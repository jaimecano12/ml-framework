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Readiness Score</c:v>
                </c:pt>
              </c:strCache>
            </c:strRef>
          </c:tx>
          <c:dPt>
            <c:idx val="0"/>
            <c:spPr>
              <a:solidFill>
                <a:srgbClr val="2E8B8B"/>
              </a:solidFill>
            </c:spPr>
          </c:dPt>
          <c:dPt>
            <c:idx val="1"/>
            <c:spPr>
              <a:solidFill>
                <a:srgbClr val="2E8B8B"/>
              </a:solidFill>
            </c:spPr>
          </c:dPt>
          <c:dPt>
            <c:idx val="2"/>
            <c:spPr>
              <a:solidFill>
                <a:srgbClr val="FF8000"/>
              </a:solidFill>
            </c:spPr>
          </c:dPt>
          <c:dPt>
            <c:idx val="3"/>
            <c:spPr>
              <a:solidFill>
                <a:srgbClr val="FF8000"/>
              </a:solidFill>
            </c:spPr>
          </c:dPt>
          <c:dPt>
            <c:idx val="4"/>
            <c:spPr>
              <a:solidFill>
                <a:srgbClr val="2E8B8B"/>
              </a:solidFill>
            </c:spPr>
          </c:dPt>
          <c:cat>
            <c:strRef>
              <c:f>Sheet1!$A$2:$A$6</c:f>
              <c:strCache>
                <c:ptCount val="5"/>
                <c:pt idx="0">
                  <c:v>clean_dataset</c:v>
                </c:pt>
                <c:pt idx="1">
                  <c:v>dirty_dataset</c:v>
                </c:pt>
                <c:pt idx="2">
                  <c:v>leaky_dataset</c:v>
                </c:pt>
                <c:pt idx="3">
                  <c:v>Titanic</c:v>
                </c:pt>
                <c:pt idx="4">
                  <c:v>Pima Diabetes</c:v>
                </c:pt>
              </c:strCache>
            </c:strRef>
          </c:cat>
          <c:val>
            <c:numRef>
              <c:f>Sheet1!$B$2:$B$6</c:f>
              <c:numCache>
                <c:formatCode>General</c:formatCode>
                <c:ptCount val="5"/>
                <c:pt idx="0">
                  <c:v>98.8</c:v>
                </c:pt>
                <c:pt idx="1">
                  <c:v>91.2</c:v>
                </c:pt>
                <c:pt idx="2">
                  <c:v>71.6</c:v>
                </c:pt>
                <c:pt idx="3">
                  <c:v>80.6</c:v>
                </c:pt>
                <c:pt idx="4">
                  <c:v>96.2</c:v>
                </c:pt>
              </c:numCache>
            </c:numRef>
          </c:val>
        </c:ser>
        <c:dLbls>
          <c:numFmt formatCode="0.0" sourceLinked="0"/>
          <c:txPr>
            <a:bodyPr/>
            <a:lstStyle/>
            <a:p>
              <a:pPr>
                <a:defRPr sz="14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  <c:majorUnit val="20.0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barChart>
        <c:barDir val="bar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Items satisfied (of 29)</c:v>
                </c:pt>
              </c:strCache>
            </c:strRef>
          </c:tx>
          <c:dPt>
            <c:idx val="0"/>
            <c:spPr>
              <a:solidFill>
                <a:srgbClr val="C8DCF0"/>
              </a:solidFill>
            </c:spPr>
          </c:dPt>
          <c:dPt>
            <c:idx val="1"/>
            <c:spPr>
              <a:solidFill>
                <a:srgbClr val="B4D2E6"/>
              </a:solidFill>
            </c:spPr>
          </c:dPt>
          <c:dPt>
            <c:idx val="2"/>
            <c:spPr>
              <a:solidFill>
                <a:srgbClr val="A0C3E1"/>
              </a:solidFill>
            </c:spPr>
          </c:dPt>
          <c:dPt>
            <c:idx val="3"/>
            <c:spPr>
              <a:solidFill>
                <a:srgbClr val="2E8B8B"/>
              </a:solidFill>
            </c:spPr>
          </c:dPt>
          <c:cat>
            <c:strRef>
              <c:f>Sheet1!$A$2:$A$5</c:f>
              <c:strCache>
                <c:ptCount val="4"/>
                <c:pt idx="0">
                  <c:v>Great Expectations</c:v>
                </c:pt>
                <c:pt idx="1">
                  <c:v>Deepchecks</c:v>
                </c:pt>
                <c:pt idx="2">
                  <c:v>ydata-profiling</c:v>
                </c:pt>
                <c:pt idx="3">
                  <c:v>ml-framework</c:v>
                </c:pt>
              </c:strCache>
            </c: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9</c:v>
                </c:pt>
                <c:pt idx="1">
                  <c:v>11</c:v>
                </c:pt>
                <c:pt idx="2">
                  <c:v>8</c:v>
                </c:pt>
                <c:pt idx="3">
                  <c:v>29</c:v>
                </c:pt>
              </c:numCache>
            </c:numRef>
          </c:val>
        </c:ser>
        <c:dLbls>
          <c:txPr>
            <a:bodyPr/>
            <a:lstStyle/>
            <a:p>
              <a:pPr>
                <a:defRPr sz="1400" b="1"/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7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l"/>
        <c:majorTickMark val="out"/>
        <c:minorTickMark val="none"/>
        <c:tickLblPos val="nextTo"/>
        <c:txPr>
          <a:bodyPr/>
          <a:lstStyle/>
          <a:p>
            <a:pPr>
              <a:defRPr sz="1300"/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30.0"/>
          <c:min val="0.0"/>
        </c:scaling>
        <c:delete val="0"/>
        <c:axPos val="b"/>
        <c:majorGridlines/>
        <c:majorTickMark val="out"/>
        <c:minorTickMark val="none"/>
        <c:tickLblPos val="nextTo"/>
        <c:txPr>
          <a:bodyPr/>
          <a:lstStyle/>
          <a:p>
            <a:pPr>
              <a:defRPr sz="1200"/>
            </a:pPr>
          </a:p>
        </c:txPr>
        <c:crossAx val="-2068027336"/>
        <c:crosses val="autoZero"/>
        <c:majorUnit val="5.0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2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5394960"/>
            <a:ext cx="12191695" cy="1463040"/>
          </a:xfrm>
          <a:prstGeom prst="rect">
            <a:avLst/>
          </a:prstGeom>
          <a:solidFill>
            <a:srgbClr val="1A2F4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394960"/>
            <a:ext cx="12191695" cy="41148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005840"/>
            <a:ext cx="1033272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>
                <a:solidFill>
                  <a:srgbClr val="FF8000"/>
                </a:solidFill>
              </a:rPr>
              <a:t>MASTER'S THESIS DEFENSE  ·  JULY 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1600200"/>
            <a:ext cx="103327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</a:rPr>
              <a:t>An Automated Framework for Dataset Quality Assessment and Data Leakage Detection in Machine Learning</a:t>
            </a:r>
          </a:p>
        </p:txBody>
      </p:sp>
      <p:sp>
        <p:nvSpPr>
          <p:cNvPr id="8" name="Rectangle 7"/>
          <p:cNvSpPr/>
          <p:nvPr/>
        </p:nvSpPr>
        <p:spPr>
          <a:xfrm>
            <a:off x="960120" y="3703320"/>
            <a:ext cx="2926080" cy="32004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977639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0">
                <a:solidFill>
                  <a:srgbClr val="B9C8DC"/>
                </a:solidFill>
              </a:rPr>
              <a:t>20 automated checks · unified leakage risk score · LLM semantic analysis · quantitative benchmark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4400" y="5623560"/>
            <a:ext cx="1033272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1">
                <a:solidFill>
                  <a:srgbClr val="FFFFFF"/>
                </a:solidFill>
              </a:rPr>
              <a:t>Jaime Cano Moraño</a:t>
            </a:r>
          </a:p>
          <a:p>
            <a:pPr algn="l"/>
            <a:r>
              <a:rPr sz="1300" b="0">
                <a:solidFill>
                  <a:srgbClr val="B9C8DC"/>
                </a:solidFill>
              </a:rPr>
              <a:t>ETSIT — Universidad Politécnica de Madrid   ·   Illinois Institute of Technology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2500" b="1">
                <a:solidFill>
                  <a:srgbClr val="FFFFFF"/>
                </a:solidFill>
              </a:rPr>
              <a:t>Agenda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10881360" cy="9144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9525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68680" y="1472184"/>
            <a:ext cx="438912" cy="438912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554480" y="1344168"/>
            <a:ext cx="8503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3F60"/>
                </a:solidFill>
              </a:rPr>
              <a:t>Motivation &amp; Objectives</a:t>
            </a:r>
          </a:p>
          <a:p>
            <a:pPr algn="l"/>
            <a:r>
              <a:rPr sz="1200" b="0">
                <a:solidFill>
                  <a:srgbClr val="555555"/>
                </a:solidFill>
              </a:rPr>
              <a:t>Why data leakage matters, the gap in existing tools, and the four contributions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149840" y="1508760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8000"/>
                </a:solidFill>
              </a:rPr>
              <a:t>≈ 5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2267711"/>
            <a:ext cx="10881360" cy="9144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9525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868680" y="2505455"/>
            <a:ext cx="438912" cy="438912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54480" y="2377439"/>
            <a:ext cx="8503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3F60"/>
                </a:solidFill>
              </a:rPr>
              <a:t>System &amp; Methodology</a:t>
            </a:r>
          </a:p>
          <a:p>
            <a:pPr algn="l"/>
            <a:r>
              <a:rPr sz="1200" b="0">
                <a:solidFill>
                  <a:srgbClr val="555555"/>
                </a:solidFill>
              </a:rPr>
              <a:t>Architecture, the 20-check catalog, the unified Leakage Risk Score, LLM semantic analysis, readiness scoring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149840" y="2542031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8000"/>
                </a:solidFill>
              </a:rPr>
              <a:t>≈ 8 min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300982"/>
            <a:ext cx="10881360" cy="9144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9525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68680" y="3538726"/>
            <a:ext cx="438912" cy="438912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54480" y="3410710"/>
            <a:ext cx="8503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3F60"/>
                </a:solidFill>
              </a:rPr>
              <a:t>Experimental Results</a:t>
            </a:r>
          </a:p>
          <a:p>
            <a:pPr algn="l"/>
            <a:r>
              <a:rPr sz="1200" b="0">
                <a:solidFill>
                  <a:srgbClr val="555555"/>
                </a:solidFill>
              </a:rPr>
              <a:t>12 datasets, readiness scores, the Titanic case study, impact analysis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149840" y="3575302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8000"/>
                </a:solidFill>
              </a:rPr>
              <a:t>≈ 5 min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334253"/>
            <a:ext cx="10881360" cy="9144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9525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68680" y="4571997"/>
            <a:ext cx="438912" cy="438912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554480" y="4443981"/>
            <a:ext cx="8503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3F60"/>
                </a:solidFill>
              </a:rPr>
              <a:t>Benchmark</a:t>
            </a:r>
          </a:p>
          <a:p>
            <a:pPr algn="l"/>
            <a:r>
              <a:rPr sz="1200" b="0">
                <a:solidFill>
                  <a:srgbClr val="555555"/>
                </a:solidFill>
              </a:rPr>
              <a:t>Quantitative comparison against ydata-profiling, Deepchecks, and Great Expectations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0149840" y="4608573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8000"/>
                </a:solidFill>
              </a:rPr>
              <a:t>≈ 3 min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40080" y="5367524"/>
            <a:ext cx="10881360" cy="9144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9525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868680" y="5605268"/>
            <a:ext cx="438912" cy="438912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8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554480" y="5477252"/>
            <a:ext cx="85039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3F60"/>
                </a:solidFill>
              </a:rPr>
              <a:t>Demo &amp; Conclusions</a:t>
            </a:r>
          </a:p>
          <a:p>
            <a:pPr algn="l"/>
            <a:r>
              <a:rPr sz="1200" b="0">
                <a:solidFill>
                  <a:srgbClr val="555555"/>
                </a:solidFill>
              </a:rPr>
              <a:t>Live Streamlit demo, conclusions, future work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149840" y="5641844"/>
            <a:ext cx="11887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1300" b="1">
                <a:solidFill>
                  <a:srgbClr val="FF8000"/>
                </a:solidFill>
              </a:rPr>
              <a:t>≈ 4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0" b="1">
                <a:solidFill>
                  <a:srgbClr val="FF8000"/>
                </a:solidFill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461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Motivation &amp; Objectives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160520"/>
            <a:ext cx="2926080" cy="32004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434840"/>
            <a:ext cx="9875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B9C8DC"/>
                </a:solidFill>
              </a:rPr>
              <a:t>The silent failure mode of machine learning  ·  a motivating example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B9C8DC"/>
                </a:solidFill>
              </a:rPr>
              <a:t>What existing tools miss  ·  objectives and contributions of this thesis</a:t>
            </a:r>
          </a:p>
        </p:txBody>
      </p:sp>
      <p:sp>
        <p:nvSpPr>
          <p:cNvPr id="8" name="Oval 7"/>
          <p:cNvSpPr/>
          <p:nvPr/>
        </p:nvSpPr>
        <p:spPr>
          <a:xfrm>
            <a:off x="9539935" y="594360"/>
            <a:ext cx="201168" cy="201168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23983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08031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692079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076127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MOTIVATION &amp; OBJECTIVES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Models Fail Because of Data, Not Algorithms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234440"/>
            <a:ext cx="6675120" cy="3291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400"/>
              </a:spcAft>
            </a:pPr>
            <a:r>
              <a:rPr sz="1600" b="0">
                <a:solidFill>
                  <a:srgbClr val="262626"/>
                </a:solidFill>
              </a:rPr>
              <a:t>•  Most ML effort targets </a:t>
            </a:r>
            <a:r>
              <a:rPr sz="1600" b="1">
                <a:solidFill>
                  <a:srgbClr val="262626"/>
                </a:solidFill>
              </a:rPr>
              <a:t>models</a:t>
            </a:r>
            <a:r>
              <a:rPr sz="1600" b="0">
                <a:solidFill>
                  <a:srgbClr val="262626"/>
                </a:solidFill>
              </a:rPr>
              <a:t>; most production failures trace back to </a:t>
            </a:r>
            <a:r>
              <a:rPr sz="1600" b="1">
                <a:solidFill>
                  <a:srgbClr val="262626"/>
                </a:solidFill>
              </a:rPr>
              <a:t>data</a:t>
            </a:r>
            <a:r>
              <a:rPr sz="1600" b="0">
                <a:solidFill>
                  <a:srgbClr val="262626"/>
                </a:solidFill>
              </a:rPr>
              <a:t>: missing values, duplicates, imbalance, drift … and, most insidiously, </a:t>
            </a:r>
            <a:r>
              <a:rPr sz="1600" b="1">
                <a:solidFill>
                  <a:srgbClr val="262626"/>
                </a:solidFill>
              </a:rPr>
              <a:t>data leakage</a:t>
            </a:r>
            <a:r>
              <a:rPr sz="1600" b="0">
                <a:solidFill>
                  <a:srgbClr val="262626"/>
                </a:solidFill>
              </a:rPr>
              <a:t>.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262626"/>
                </a:solidFill>
              </a:rPr>
              <a:t>•  Leakage is dangerous because it is silent: the model looks </a:t>
            </a:r>
            <a:r>
              <a:rPr sz="1600" b="1">
                <a:solidFill>
                  <a:srgbClr val="262626"/>
                </a:solidFill>
              </a:rPr>
              <a:t>better</a:t>
            </a:r>
            <a:r>
              <a:rPr sz="1600" b="0">
                <a:solidFill>
                  <a:srgbClr val="262626"/>
                </a:solidFill>
              </a:rPr>
              <a:t>, not worse — inflated validation metrics that collapse in production.</a:t>
            </a:r>
          </a:p>
          <a:p>
            <a:pPr algn="l">
              <a:spcAft>
                <a:spcPts val="1400"/>
              </a:spcAft>
            </a:pPr>
            <a:r>
              <a:rPr sz="1600" b="0">
                <a:solidFill>
                  <a:srgbClr val="262626"/>
                </a:solidFill>
              </a:rPr>
              <a:t>•  Documented across medicine, finance, and academic reproducibility studies (Kaufman et al. 2012; Kapoor &amp; Narayanan).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680960" y="1280160"/>
            <a:ext cx="3931920" cy="2377440"/>
          </a:xfrm>
          <a:prstGeom prst="roundRect">
            <a:avLst>
              <a:gd name="adj" fmla="val 12000"/>
            </a:avLst>
          </a:prstGeom>
          <a:solidFill>
            <a:srgbClr val="E8EFF9"/>
          </a:solidFill>
          <a:ln w="12700">
            <a:solidFill>
              <a:srgbClr val="243F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/>
          <a:lstStyle/>
          <a:p>
            <a:pPr algn="l"/>
            <a:r>
              <a:rPr sz="1100" b="1">
                <a:solidFill>
                  <a:srgbClr val="FF8000"/>
                </a:solidFill>
              </a:rPr>
              <a:t>DEFINITION</a:t>
            </a:r>
          </a:p>
          <a:p>
            <a:pPr algn="l">
              <a:spcBef>
                <a:spcPts val="600"/>
              </a:spcBef>
            </a:pPr>
            <a:r>
              <a:rPr sz="1500" b="1">
                <a:solidFill>
                  <a:srgbClr val="243F60"/>
                </a:solidFill>
              </a:rPr>
              <a:t>Data leakage</a:t>
            </a:r>
            <a:r>
              <a:rPr sz="1500" b="0">
                <a:solidFill>
                  <a:srgbClr val="243F60"/>
                </a:solidFill>
              </a:rPr>
              <a:t>: information about the target reaches the training features in a way that will </a:t>
            </a:r>
            <a:r>
              <a:rPr sz="1500" b="1">
                <a:solidFill>
                  <a:srgbClr val="243F60"/>
                </a:solidFill>
              </a:rPr>
              <a:t>not exist at prediction time</a:t>
            </a:r>
            <a:r>
              <a:rPr sz="1500" b="0">
                <a:solidFill>
                  <a:srgbClr val="243F60"/>
                </a:solidFill>
              </a:rPr>
              <a:t>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4846320"/>
            <a:ext cx="10881360" cy="365760"/>
          </a:xfrm>
          <a:prstGeom prst="roundRect">
            <a:avLst>
              <a:gd name="adj" fmla="val 30000"/>
            </a:avLst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l"/>
            <a:r>
              <a:rPr sz="1400" b="1">
                <a:solidFill>
                  <a:srgbClr val="FFFFFF"/>
                </a:solidFill>
              </a:rPr>
              <a:t>Core question of this thesis</a:t>
            </a:r>
          </a:p>
        </p:txBody>
      </p:sp>
      <p:sp>
        <p:nvSpPr>
          <p:cNvPr id="10" name="Rectangle 9"/>
          <p:cNvSpPr/>
          <p:nvPr/>
        </p:nvSpPr>
        <p:spPr>
          <a:xfrm>
            <a:off x="640080" y="5212080"/>
            <a:ext cx="10881360" cy="914400"/>
          </a:xfrm>
          <a:prstGeom prst="rect">
            <a:avLst/>
          </a:prstGeom>
          <a:solidFill>
            <a:srgbClr val="FFF3E6"/>
          </a:solidFill>
          <a:ln w="6350">
            <a:solidFill>
              <a:srgbClr val="FF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l">
              <a:spcAft>
                <a:spcPts val="500"/>
              </a:spcAft>
            </a:pPr>
            <a:r>
              <a:rPr sz="1700" b="0">
                <a:solidFill>
                  <a:srgbClr val="262626"/>
                </a:solidFill>
              </a:rPr>
              <a:t>Can dataset quality assessment and leakage detection be </a:t>
            </a:r>
            <a:r>
              <a:rPr sz="1700" b="1">
                <a:solidFill>
                  <a:srgbClr val="262626"/>
                </a:solidFill>
              </a:rPr>
              <a:t>automated, quantified, and made actionable</a:t>
            </a:r>
            <a:r>
              <a:rPr sz="1700" b="0">
                <a:solidFill>
                  <a:srgbClr val="262626"/>
                </a:solidFill>
              </a:rPr>
              <a:t> in a single tool?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MOTIVATION &amp; OBJECTIVES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A Motivating Example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14300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62626"/>
                </a:solidFill>
              </a:rPr>
              <a:t>A logistic regression classifier trained on a dataset with an engineered leaky feature: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1828800"/>
            <a:ext cx="4754880" cy="365760"/>
          </a:xfrm>
          <a:prstGeom prst="roundRect">
            <a:avLst>
              <a:gd name="adj" fmla="val 30000"/>
            </a:avLst>
          </a:prstGeom>
          <a:solidFill>
            <a:srgbClr val="B4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l"/>
            <a:r>
              <a:rPr sz="1400" b="1">
                <a:solidFill>
                  <a:srgbClr val="FFFFFF"/>
                </a:solidFill>
              </a:rPr>
              <a:t>With leakage (as delivered)</a:t>
            </a:r>
          </a:p>
        </p:txBody>
      </p:sp>
      <p:sp>
        <p:nvSpPr>
          <p:cNvPr id="9" name="Rectangle 8"/>
          <p:cNvSpPr/>
          <p:nvPr/>
        </p:nvSpPr>
        <p:spPr>
          <a:xfrm>
            <a:off x="822960" y="2194560"/>
            <a:ext cx="4754880" cy="868680"/>
          </a:xfrm>
          <a:prstGeom prst="rect">
            <a:avLst/>
          </a:prstGeom>
          <a:solidFill>
            <a:srgbClr val="FBEAEA"/>
          </a:solidFill>
          <a:ln w="6350">
            <a:solidFill>
              <a:srgbClr val="B4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500"/>
              </a:spcAft>
            </a:pPr>
            <a:r>
              <a:rPr sz="2200" b="1">
                <a:solidFill>
                  <a:srgbClr val="262626"/>
                </a:solidFill>
              </a:rPr>
              <a:t>Validation accuracy:  1.000</a:t>
            </a:r>
          </a:p>
        </p:txBody>
      </p:sp>
      <p:sp>
        <p:nvSpPr>
          <p:cNvPr id="10" name="Right Arrow 9"/>
          <p:cNvSpPr/>
          <p:nvPr/>
        </p:nvSpPr>
        <p:spPr>
          <a:xfrm>
            <a:off x="5715000" y="2286000"/>
            <a:ext cx="777240" cy="411480"/>
          </a:xfrm>
          <a:prstGeom prst="rightArrow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629400" y="1828800"/>
            <a:ext cx="4754880" cy="365760"/>
          </a:xfrm>
          <a:prstGeom prst="roundRect">
            <a:avLst>
              <a:gd name="adj" fmla="val 30000"/>
            </a:avLst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l"/>
            <a:r>
              <a:rPr sz="1400" b="1">
                <a:solidFill>
                  <a:srgbClr val="FFFFFF"/>
                </a:solidFill>
              </a:rPr>
              <a:t>After removing leaky features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0" y="2194560"/>
            <a:ext cx="4754880" cy="868680"/>
          </a:xfrm>
          <a:prstGeom prst="rect">
            <a:avLst/>
          </a:prstGeom>
          <a:solidFill>
            <a:srgbClr val="DDEEEE"/>
          </a:solidFill>
          <a:ln w="6350">
            <a:solidFill>
              <a:srgbClr val="2E8B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500"/>
              </a:spcAft>
            </a:pPr>
            <a:r>
              <a:rPr sz="2200" b="1">
                <a:solidFill>
                  <a:srgbClr val="262626"/>
                </a:solidFill>
              </a:rPr>
              <a:t>Validation accuracy:  0.952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023360" y="3337560"/>
            <a:ext cx="4114800" cy="548640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700" b="1">
                <a:solidFill>
                  <a:srgbClr val="FFFFFF"/>
                </a:solidFill>
              </a:rPr>
              <a:t>Δ = −0.048  of fake performance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40080" y="4206240"/>
            <a:ext cx="1088136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626"/>
                </a:solidFill>
              </a:rPr>
              <a:t>•  That gap is the difference between a reproducible result and a broken one.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626"/>
                </a:solidFill>
              </a:rPr>
              <a:t>•  A human reviewer might catch this. </a:t>
            </a:r>
            <a:r>
              <a:rPr sz="1600" b="1">
                <a:solidFill>
                  <a:srgbClr val="262626"/>
                </a:solidFill>
              </a:rPr>
              <a:t>At scale, nobody reviews every feature of every dataset.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262626"/>
                </a:solidFill>
              </a:rPr>
              <a:t>•  The framework presented today detects this automatically — and quantifies the damage.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MOTIVATION &amp; OBJECTIVES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The Gap in Existing Tools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80160"/>
            <a:ext cx="3566160" cy="192024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146304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3F60"/>
                </a:solidFill>
              </a:rPr>
              <a:t>ydata-profiling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262626"/>
                </a:solidFill>
              </a:rPr>
              <a:t>Descriptive profiling, correlation reports</a:t>
            </a:r>
          </a:p>
          <a:p>
            <a:pPr algn="l">
              <a:spcBef>
                <a:spcPts val="900"/>
              </a:spcBef>
            </a:pPr>
            <a:r>
              <a:rPr sz="1100" b="0">
                <a:solidFill>
                  <a:srgbClr val="555555"/>
                </a:solidFill>
              </a:rPr>
              <a:t>Leakage detection:</a:t>
            </a:r>
          </a:p>
          <a:p>
            <a:pPr algn="l"/>
            <a:r>
              <a:rPr sz="1300" b="1">
                <a:solidFill>
                  <a:srgbClr val="B41E1E"/>
                </a:solidFill>
              </a:rPr>
              <a:t>0 / 4 leakage scenarios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43400" y="1280160"/>
            <a:ext cx="3566160" cy="192024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46304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3F60"/>
                </a:solidFill>
              </a:rPr>
              <a:t>Great Expectations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262626"/>
                </a:solidFill>
              </a:rPr>
              <a:t>Rule-based validation suites</a:t>
            </a:r>
          </a:p>
          <a:p>
            <a:pPr algn="l">
              <a:spcBef>
                <a:spcPts val="900"/>
              </a:spcBef>
            </a:pPr>
            <a:r>
              <a:rPr sz="1100" b="0">
                <a:solidFill>
                  <a:srgbClr val="555555"/>
                </a:solidFill>
              </a:rPr>
              <a:t>Leakage detection:</a:t>
            </a:r>
          </a:p>
          <a:p>
            <a:pPr algn="l"/>
            <a:r>
              <a:rPr sz="1300" b="1">
                <a:solidFill>
                  <a:srgbClr val="B41E1E"/>
                </a:solidFill>
              </a:rPr>
              <a:t>1 / 4 (manual rule only)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280160"/>
            <a:ext cx="3566160" cy="192024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463040"/>
            <a:ext cx="32004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3F60"/>
                </a:solidFill>
              </a:rPr>
              <a:t>Deepchecks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262626"/>
                </a:solidFill>
              </a:rPr>
              <a:t>Train/test validation checks</a:t>
            </a:r>
          </a:p>
          <a:p>
            <a:pPr algn="l">
              <a:spcBef>
                <a:spcPts val="900"/>
              </a:spcBef>
            </a:pPr>
            <a:r>
              <a:rPr sz="1100" b="0">
                <a:solidFill>
                  <a:srgbClr val="555555"/>
                </a:solidFill>
              </a:rPr>
              <a:t>Leakage detection:</a:t>
            </a:r>
          </a:p>
          <a:p>
            <a:pPr algn="l"/>
            <a:r>
              <a:rPr sz="1300" b="1">
                <a:solidFill>
                  <a:srgbClr val="B41E1E"/>
                </a:solidFill>
              </a:rPr>
              <a:t>0 / 4 leakage scenarios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747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600" b="0">
                <a:solidFill>
                  <a:srgbClr val="262626"/>
                </a:solidFill>
              </a:rPr>
              <a:t>•  Strong at profiling and rule-based validation — </a:t>
            </a:r>
            <a:r>
              <a:rPr sz="1600" b="1">
                <a:solidFill>
                  <a:srgbClr val="262626"/>
                </a:solidFill>
              </a:rPr>
              <a:t>but leakage detection is almost absent</a:t>
            </a:r>
            <a:r>
              <a:rPr sz="1600" b="0">
                <a:solidFill>
                  <a:srgbClr val="262626"/>
                </a:solidFill>
              </a:rPr>
              <a:t>, and none produces an interpretable readiness verdict or code-level fixes.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709160"/>
            <a:ext cx="10881360" cy="365760"/>
          </a:xfrm>
          <a:prstGeom prst="roundRect">
            <a:avLst>
              <a:gd name="adj" fmla="val 30000"/>
            </a:avLst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l"/>
            <a:r>
              <a:rPr sz="1400" b="1">
                <a:solidFill>
                  <a:srgbClr val="FFFFFF"/>
                </a:solidFill>
              </a:rPr>
              <a:t>Positioning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5074920"/>
            <a:ext cx="10881360" cy="914400"/>
          </a:xfrm>
          <a:prstGeom prst="rect">
            <a:avLst/>
          </a:prstGeom>
          <a:solidFill>
            <a:srgbClr val="FFF3E6"/>
          </a:solidFill>
          <a:ln w="6350">
            <a:solidFill>
              <a:srgbClr val="FF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l">
              <a:spcAft>
                <a:spcPts val="500"/>
              </a:spcAft>
            </a:pPr>
            <a:r>
              <a:rPr sz="1600" b="0">
                <a:solidFill>
                  <a:srgbClr val="262626"/>
                </a:solidFill>
              </a:rPr>
              <a:t>The framework </a:t>
            </a:r>
            <a:r>
              <a:rPr sz="1600" b="1">
                <a:solidFill>
                  <a:srgbClr val="262626"/>
                </a:solidFill>
              </a:rPr>
              <a:t>complements</a:t>
            </a:r>
            <a:r>
              <a:rPr sz="1600" b="0">
                <a:solidFill>
                  <a:srgbClr val="262626"/>
                </a:solidFill>
              </a:rPr>
              <a:t> these tools — it fills the leakage-detection and actionability gap rather than replacing general-purpose profiling.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MOTIVATION &amp; OBJECTIVES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Objectives and Contributions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188720"/>
            <a:ext cx="5349240" cy="16002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4672" y="1353312"/>
            <a:ext cx="402336" cy="402336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316736"/>
            <a:ext cx="44805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43F60"/>
                </a:solidFill>
              </a:rPr>
              <a:t>A unified, automated framework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20 deterministic checks across 5 dimensions (quality, leakage, features, sufficiency, drift) + impact analysis — via CLI, Python SDK, and web app.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188720"/>
            <a:ext cx="5349240" cy="16002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36792" y="1353312"/>
            <a:ext cx="402336" cy="402336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1316736"/>
            <a:ext cx="44805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43F60"/>
                </a:solidFill>
              </a:rPr>
              <a:t>A unified Leakage Risk Score L(f)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Correlation, mutual information, and single-feature performance inflation combined into one flaggable number per feature.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926080"/>
            <a:ext cx="5349240" cy="16002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090672"/>
            <a:ext cx="402336" cy="402336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054096"/>
            <a:ext cx="44805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43F60"/>
                </a:solidFill>
              </a:rPr>
              <a:t>LLM-based semantic leakage analysis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Detects leakage from feature meaning (e.g. discharge_date) where statistics alone are blind.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926080"/>
            <a:ext cx="5349240" cy="16002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36792" y="3090672"/>
            <a:ext cx="402336" cy="402336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3054096"/>
            <a:ext cx="4480560" cy="1325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43F60"/>
                </a:solidFill>
              </a:rPr>
              <a:t>A quantitative benchmark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Against three widely used tools on a 29-item checklist and four constructed leakage scenarios.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8680" y="4846320"/>
            <a:ext cx="2468880" cy="1234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43F60"/>
                </a:solidFill>
              </a:rPr>
              <a:t>20</a:t>
            </a:r>
          </a:p>
          <a:p>
            <a:pPr algn="ctr"/>
            <a:r>
              <a:rPr sz="1200" b="0">
                <a:solidFill>
                  <a:srgbClr val="555555"/>
                </a:solidFill>
              </a:rPr>
              <a:t>automated checks, 5 dimensions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68680" y="4846320"/>
            <a:ext cx="2468880" cy="64008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538728" y="4846320"/>
            <a:ext cx="2468880" cy="1234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43F60"/>
                </a:solidFill>
              </a:rPr>
              <a:t>12</a:t>
            </a:r>
          </a:p>
          <a:p>
            <a:pPr algn="ctr"/>
            <a:r>
              <a:rPr sz="1200" b="0">
                <a:solidFill>
                  <a:srgbClr val="555555"/>
                </a:solidFill>
              </a:rPr>
              <a:t>datasets (6 synthetic + 6 real)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538728" y="4846320"/>
            <a:ext cx="2468880" cy="64008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08776" y="4846320"/>
            <a:ext cx="2468880" cy="1234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43F60"/>
                </a:solidFill>
              </a:rPr>
              <a:t>4/4</a:t>
            </a:r>
          </a:p>
          <a:p>
            <a:pPr algn="ctr"/>
            <a:r>
              <a:rPr sz="1200" b="0">
                <a:solidFill>
                  <a:srgbClr val="555555"/>
                </a:solidFill>
              </a:rPr>
              <a:t>leakage scenarios detected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08776" y="4846320"/>
            <a:ext cx="2468880" cy="64008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878824" y="4846320"/>
            <a:ext cx="2468880" cy="1234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43F60"/>
                </a:solidFill>
              </a:rPr>
              <a:t>325</a:t>
            </a:r>
          </a:p>
          <a:p>
            <a:pPr algn="ctr"/>
            <a:r>
              <a:rPr sz="1200" b="0">
                <a:solidFill>
                  <a:srgbClr val="555555"/>
                </a:solidFill>
              </a:rPr>
              <a:t>unit tests passing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878824" y="4846320"/>
            <a:ext cx="2468880" cy="64008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0" b="1">
                <a:solidFill>
                  <a:srgbClr val="FF8000"/>
                </a:solidFill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461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System &amp; Methodology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160520"/>
            <a:ext cx="2926080" cy="32004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434840"/>
            <a:ext cx="9875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B9C8DC"/>
                </a:solidFill>
              </a:rPr>
              <a:t>Pipeline architecture and the three user interfaces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B9C8DC"/>
                </a:solidFill>
              </a:rPr>
              <a:t>The 20-check catalog  ·  unified Leakage Risk Score with ablation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B9C8DC"/>
                </a:solidFill>
              </a:rPr>
              <a:t>LLM semantic analysis  ·  from 20 checks to one readiness score</a:t>
            </a:r>
          </a:p>
        </p:txBody>
      </p:sp>
      <p:sp>
        <p:nvSpPr>
          <p:cNvPr id="8" name="Oval 7"/>
          <p:cNvSpPr/>
          <p:nvPr/>
        </p:nvSpPr>
        <p:spPr>
          <a:xfrm>
            <a:off x="9539935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23983" y="594360"/>
            <a:ext cx="201168" cy="201168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08031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692079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076127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SYSTEM &amp; METHODOLOGY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System Architecture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3657600" y="1143000"/>
            <a:ext cx="1965960" cy="457200"/>
          </a:xfrm>
          <a:prstGeom prst="roundRect">
            <a:avLst>
              <a:gd name="adj" fmla="val 18000"/>
            </a:avLst>
          </a:prstGeom>
          <a:solidFill>
            <a:srgbClr val="FFF3E6"/>
          </a:solidFill>
          <a:ln w="12700">
            <a:solidFill>
              <a:srgbClr val="FF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0">
                <a:solidFill>
                  <a:srgbClr val="262626"/>
                </a:solidFill>
              </a:rPr>
              <a:t>config.yaml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583680" y="1143000"/>
            <a:ext cx="1965960" cy="457200"/>
          </a:xfrm>
          <a:prstGeom prst="roundRect">
            <a:avLst>
              <a:gd name="adj" fmla="val 18000"/>
            </a:avLst>
          </a:prstGeom>
          <a:solidFill>
            <a:srgbClr val="FFF3E6"/>
          </a:solidFill>
          <a:ln w="12700">
            <a:solidFill>
              <a:srgbClr val="FF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0">
                <a:solidFill>
                  <a:srgbClr val="262626"/>
                </a:solidFill>
              </a:rPr>
              <a:t>Dataset CSV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20640" y="1874519"/>
            <a:ext cx="1965960" cy="457200"/>
          </a:xfrm>
          <a:prstGeom prst="roundRect">
            <a:avLst>
              <a:gd name="adj" fmla="val 18000"/>
            </a:avLst>
          </a:prstGeom>
          <a:solidFill>
            <a:srgbClr val="E8EFF9"/>
          </a:solidFill>
          <a:ln w="12700">
            <a:solidFill>
              <a:srgbClr val="243F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0">
                <a:solidFill>
                  <a:srgbClr val="262626"/>
                </a:solidFill>
              </a:rPr>
              <a:t>load_dataset()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051560" y="2697480"/>
            <a:ext cx="1965960" cy="566928"/>
          </a:xfrm>
          <a:prstGeom prst="roundRect">
            <a:avLst>
              <a:gd name="adj" fmla="val 18000"/>
            </a:avLst>
          </a:prstGeom>
          <a:solidFill>
            <a:srgbClr val="E8EFF9"/>
          </a:solidFill>
          <a:ln w="12700">
            <a:solidFill>
              <a:srgbClr val="243F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0">
                <a:solidFill>
                  <a:srgbClr val="262626"/>
                </a:solidFill>
              </a:rPr>
              <a:t>quality checks (6)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794760" y="2697480"/>
            <a:ext cx="1965960" cy="566928"/>
          </a:xfrm>
          <a:prstGeom prst="roundRect">
            <a:avLst>
              <a:gd name="adj" fmla="val 18000"/>
            </a:avLst>
          </a:prstGeom>
          <a:solidFill>
            <a:srgbClr val="E8EFF9"/>
          </a:solidFill>
          <a:ln w="12700">
            <a:solidFill>
              <a:srgbClr val="243F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0">
                <a:solidFill>
                  <a:srgbClr val="262626"/>
                </a:solidFill>
              </a:rPr>
              <a:t>leakage checks (5)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37960" y="2697480"/>
            <a:ext cx="1965960" cy="566928"/>
          </a:xfrm>
          <a:prstGeom prst="roundRect">
            <a:avLst>
              <a:gd name="adj" fmla="val 18000"/>
            </a:avLst>
          </a:prstGeom>
          <a:solidFill>
            <a:srgbClr val="E8EFF9"/>
          </a:solidFill>
          <a:ln w="12700">
            <a:solidFill>
              <a:srgbClr val="243F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0">
                <a:solidFill>
                  <a:srgbClr val="262626"/>
                </a:solidFill>
              </a:rPr>
              <a:t>feature analysis (3)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281160" y="2697480"/>
            <a:ext cx="1965960" cy="566928"/>
          </a:xfrm>
          <a:prstGeom prst="roundRect">
            <a:avLst>
              <a:gd name="adj" fmla="val 18000"/>
            </a:avLst>
          </a:prstGeom>
          <a:solidFill>
            <a:srgbClr val="E8EFF9"/>
          </a:solidFill>
          <a:ln w="12700">
            <a:solidFill>
              <a:srgbClr val="243F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0">
                <a:solidFill>
                  <a:srgbClr val="262626"/>
                </a:solidFill>
              </a:rPr>
              <a:t>sufficiency checks (4)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423160" y="3703320"/>
            <a:ext cx="1965960" cy="566928"/>
          </a:xfrm>
          <a:prstGeom prst="roundRect">
            <a:avLst>
              <a:gd name="adj" fmla="val 18000"/>
            </a:avLst>
          </a:prstGeom>
          <a:solidFill>
            <a:srgbClr val="E8EFF9"/>
          </a:solidFill>
          <a:ln w="12700">
            <a:solidFill>
              <a:srgbClr val="243F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0">
                <a:solidFill>
                  <a:srgbClr val="262626"/>
                </a:solidFill>
              </a:rPr>
              <a:t>drift detection (2)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120640" y="3703320"/>
            <a:ext cx="1965960" cy="566928"/>
          </a:xfrm>
          <a:prstGeom prst="roundRect">
            <a:avLst>
              <a:gd name="adj" fmla="val 18000"/>
            </a:avLst>
          </a:prstGeom>
          <a:solidFill>
            <a:srgbClr val="E8EFF9"/>
          </a:solidFill>
          <a:ln w="12700">
            <a:solidFill>
              <a:srgbClr val="243F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0">
                <a:solidFill>
                  <a:srgbClr val="262626"/>
                </a:solidFill>
              </a:rPr>
              <a:t>impact analysis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818120" y="3703320"/>
            <a:ext cx="1965960" cy="566928"/>
          </a:xfrm>
          <a:prstGeom prst="roundRect">
            <a:avLst>
              <a:gd name="adj" fmla="val 18000"/>
            </a:avLst>
          </a:prstGeom>
          <a:solidFill>
            <a:srgbClr val="E8EFF9"/>
          </a:solidFill>
          <a:ln w="12700">
            <a:solidFill>
              <a:srgbClr val="243F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0">
                <a:solidFill>
                  <a:srgbClr val="262626"/>
                </a:solidFill>
              </a:rPr>
              <a:t>semantic leakage (optional)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3749039" y="4754880"/>
            <a:ext cx="2286000" cy="566928"/>
          </a:xfrm>
          <a:prstGeom prst="roundRect">
            <a:avLst>
              <a:gd name="adj" fmla="val 18000"/>
            </a:avLst>
          </a:prstGeom>
          <a:solidFill>
            <a:srgbClr val="DDEEEE"/>
          </a:solidFill>
          <a:ln w="12700">
            <a:solidFill>
              <a:srgbClr val="2E8B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0">
                <a:solidFill>
                  <a:srgbClr val="262626"/>
                </a:solidFill>
              </a:rPr>
              <a:t>recommendations + readiness score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675120" y="4754880"/>
            <a:ext cx="2286000" cy="566928"/>
          </a:xfrm>
          <a:prstGeom prst="roundRect">
            <a:avLst>
              <a:gd name="adj" fmla="val 18000"/>
            </a:avLst>
          </a:prstGeom>
          <a:solidFill>
            <a:srgbClr val="DDEEEE"/>
          </a:solidFill>
          <a:ln w="12700">
            <a:solidFill>
              <a:srgbClr val="2E8B8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18288" bIns="18288"/>
          <a:lstStyle/>
          <a:p>
            <a:pPr algn="ctr"/>
            <a:r>
              <a:rPr sz="1200" b="0">
                <a:solidFill>
                  <a:srgbClr val="262626"/>
                </a:solidFill>
              </a:rPr>
              <a:t>HTML report + JSON export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4640580" y="1600200"/>
            <a:ext cx="845820" cy="274319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6720840" y="1600200"/>
            <a:ext cx="845820" cy="274319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 flipH="1">
            <a:off x="2034540" y="2331719"/>
            <a:ext cx="4069080" cy="365761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2" name="Connector 21"/>
          <p:cNvCxnSpPr/>
          <p:nvPr/>
        </p:nvCxnSpPr>
        <p:spPr>
          <a:xfrm flipH="1">
            <a:off x="4777740" y="2331719"/>
            <a:ext cx="1325880" cy="365761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3" name="Connector 22"/>
          <p:cNvCxnSpPr/>
          <p:nvPr/>
        </p:nvCxnSpPr>
        <p:spPr>
          <a:xfrm>
            <a:off x="6103620" y="2331719"/>
            <a:ext cx="1417320" cy="365761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4" name="Connector 23"/>
          <p:cNvCxnSpPr/>
          <p:nvPr/>
        </p:nvCxnSpPr>
        <p:spPr>
          <a:xfrm>
            <a:off x="6103620" y="2331719"/>
            <a:ext cx="4160520" cy="365761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5" name="Connector 24"/>
          <p:cNvCxnSpPr/>
          <p:nvPr/>
        </p:nvCxnSpPr>
        <p:spPr>
          <a:xfrm>
            <a:off x="2034540" y="3264408"/>
            <a:ext cx="662940" cy="438912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6" name="Connector 25"/>
          <p:cNvCxnSpPr/>
          <p:nvPr/>
        </p:nvCxnSpPr>
        <p:spPr>
          <a:xfrm flipH="1">
            <a:off x="3680460" y="3264408"/>
            <a:ext cx="1097280" cy="438912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7" name="Connector 26"/>
          <p:cNvCxnSpPr/>
          <p:nvPr/>
        </p:nvCxnSpPr>
        <p:spPr>
          <a:xfrm flipH="1">
            <a:off x="6377940" y="3264408"/>
            <a:ext cx="1143000" cy="438912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8" name="Connector 27"/>
          <p:cNvCxnSpPr/>
          <p:nvPr/>
        </p:nvCxnSpPr>
        <p:spPr>
          <a:xfrm flipH="1">
            <a:off x="9509760" y="3264408"/>
            <a:ext cx="754380" cy="438912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9" name="Connector 28"/>
          <p:cNvCxnSpPr/>
          <p:nvPr/>
        </p:nvCxnSpPr>
        <p:spPr>
          <a:xfrm>
            <a:off x="3406140" y="4270248"/>
            <a:ext cx="708659" cy="484632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0" name="Connector 29"/>
          <p:cNvCxnSpPr/>
          <p:nvPr/>
        </p:nvCxnSpPr>
        <p:spPr>
          <a:xfrm flipH="1">
            <a:off x="5074919" y="4270248"/>
            <a:ext cx="1028701" cy="484632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1" name="Connector 30"/>
          <p:cNvCxnSpPr/>
          <p:nvPr/>
        </p:nvCxnSpPr>
        <p:spPr>
          <a:xfrm flipH="1">
            <a:off x="5852159" y="4270248"/>
            <a:ext cx="2948941" cy="484632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32" name="Connector 31"/>
          <p:cNvCxnSpPr/>
          <p:nvPr/>
        </p:nvCxnSpPr>
        <p:spPr>
          <a:xfrm>
            <a:off x="6035039" y="5038344"/>
            <a:ext cx="640081" cy="0"/>
          </a:xfrm>
          <a:prstGeom prst="line">
            <a:avLst/>
          </a:prstGeom>
          <a:ln w="15240">
            <a:solidFill>
              <a:srgbClr val="8A8A8A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3" name="TextBox 32"/>
          <p:cNvSpPr txBox="1"/>
          <p:nvPr/>
        </p:nvSpPr>
        <p:spPr>
          <a:xfrm>
            <a:off x="457200" y="5806440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One YAML config + one CSV in  →  20 checks in 5 dimensions  →  recommendations, readiness score, and reports out.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SYSTEM &amp; METHODOLOGY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Three Interfaces, One Pipeline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80160"/>
            <a:ext cx="4937760" cy="105156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399032"/>
            <a:ext cx="4480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3F60"/>
                </a:solidFill>
              </a:rPr>
              <a:t>CLI</a:t>
            </a:r>
          </a:p>
          <a:p>
            <a:pPr algn="l"/>
            <a:r>
              <a:rPr sz="1300" b="0">
                <a:solidFill>
                  <a:srgbClr val="262626"/>
                </a:solidFill>
              </a:rPr>
              <a:t>main.py — batch runs, CI/CD friendly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496312"/>
            <a:ext cx="4937760" cy="105156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615184"/>
            <a:ext cx="4480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3F60"/>
                </a:solidFill>
              </a:rPr>
              <a:t>Python SDK</a:t>
            </a:r>
          </a:p>
          <a:p>
            <a:pPr algn="l"/>
            <a:r>
              <a:rPr sz="1300" b="0">
                <a:solidFill>
                  <a:srgbClr val="262626"/>
                </a:solidFill>
              </a:rPr>
              <a:t>DatasetChecker — notebooks and pipelines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712464"/>
            <a:ext cx="4937760" cy="105156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831336"/>
            <a:ext cx="448056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3F60"/>
                </a:solidFill>
              </a:rPr>
              <a:t>Streamlit web app</a:t>
            </a:r>
          </a:p>
          <a:p>
            <a:pPr algn="l"/>
            <a:r>
              <a:rPr sz="1300" b="0">
                <a:solidFill>
                  <a:srgbClr val="262626"/>
                </a:solidFill>
              </a:rPr>
              <a:t>seven-tab dashboard for non-programmers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029200"/>
            <a:ext cx="493776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</a:rPr>
              <a:t>Plus a @register_check </a:t>
            </a:r>
            <a:r>
              <a:rPr sz="1300" b="1">
                <a:solidFill>
                  <a:srgbClr val="555555"/>
                </a:solidFill>
              </a:rPr>
              <a:t>plugin API</a:t>
            </a:r>
            <a:r>
              <a:rPr sz="1300" b="0">
                <a:solidFill>
                  <a:srgbClr val="555555"/>
                </a:solidFill>
              </a:rPr>
              <a:t> for custom, domain-specific checks.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035040" y="1280160"/>
            <a:ext cx="5577840" cy="3566160"/>
          </a:xfrm>
          <a:prstGeom prst="rect">
            <a:avLst/>
          </a:prstGeom>
          <a:solidFill>
            <a:srgbClr val="F7F7F7"/>
          </a:solidFill>
          <a:ln w="9525">
            <a:solidFill>
              <a:srgbClr val="BBBBB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none" lIns="182880" tIns="109728"/>
          <a:lstStyle/>
          <a:p>
            <a:pPr algn="l"/>
            <a:r>
              <a:rPr sz="1400">
                <a:solidFill>
                  <a:srgbClr val="1E3A66"/>
                </a:solidFill>
                <a:latin typeface="Consolas"/>
              </a:rPr>
              <a:t>from src.checker import DatasetChecker</a:t>
            </a:r>
          </a:p>
          <a:p>
            <a:pPr algn="l"/>
            <a:r>
              <a:rPr sz="1400">
                <a:solidFill>
                  <a:srgbClr val="1E3A66"/>
                </a:solidFill>
                <a:latin typeface="Consolas"/>
              </a:rPr>
              <a:t> </a:t>
            </a:r>
          </a:p>
          <a:p>
            <a:pPr algn="l"/>
            <a:r>
              <a:rPr sz="1400">
                <a:solidFill>
                  <a:srgbClr val="1E3A66"/>
                </a:solidFill>
                <a:latin typeface="Consolas"/>
              </a:rPr>
              <a:t>checker = DatasetChecker(</a:t>
            </a:r>
          </a:p>
          <a:p>
            <a:pPr algn="l"/>
            <a:r>
              <a:rPr sz="1400">
                <a:solidFill>
                  <a:srgbClr val="1E3A66"/>
                </a:solidFill>
                <a:latin typeface="Consolas"/>
              </a:rPr>
              <a:t>    "configs/config.yaml")</a:t>
            </a:r>
          </a:p>
          <a:p>
            <a:pPr algn="l"/>
            <a:r>
              <a:rPr sz="1400">
                <a:solidFill>
                  <a:srgbClr val="1E3A66"/>
                </a:solidFill>
                <a:latin typeface="Consolas"/>
              </a:rPr>
              <a:t>report = checker.run(</a:t>
            </a:r>
          </a:p>
          <a:p>
            <a:pPr algn="l"/>
            <a:r>
              <a:rPr sz="1400">
                <a:solidFill>
                  <a:srgbClr val="1E3A66"/>
                </a:solidFill>
                <a:latin typeface="Consolas"/>
              </a:rPr>
              <a:t>    "data/titanic.csv",</a:t>
            </a:r>
          </a:p>
          <a:p>
            <a:pPr algn="l"/>
            <a:r>
              <a:rPr sz="1400">
                <a:solidFill>
                  <a:srgbClr val="1E3A66"/>
                </a:solidFill>
                <a:latin typeface="Consolas"/>
              </a:rPr>
              <a:t>    target_col="survived")</a:t>
            </a:r>
          </a:p>
          <a:p>
            <a:pPr algn="l"/>
            <a:r>
              <a:rPr sz="1400">
                <a:solidFill>
                  <a:srgbClr val="1E3A66"/>
                </a:solidFill>
                <a:latin typeface="Consolas"/>
              </a:rPr>
              <a:t> </a:t>
            </a:r>
          </a:p>
          <a:p>
            <a:pPr algn="l"/>
            <a:r>
              <a:rPr sz="1400">
                <a:solidFill>
                  <a:srgbClr val="1E3A66"/>
                </a:solidFill>
                <a:latin typeface="Consolas"/>
              </a:rPr>
              <a:t>print(checker.score, checker.grade)</a:t>
            </a:r>
          </a:p>
          <a:p>
            <a:pPr algn="l"/>
            <a:r>
              <a:rPr sz="1400">
                <a:solidFill>
                  <a:srgbClr val="1E3A66"/>
                </a:solidFill>
                <a:latin typeface="Consolas"/>
              </a:rPr>
              <a:t>checker.save_report("reports/")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035040" y="1280160"/>
            <a:ext cx="54864" cy="3566160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SYSTEM &amp; METHODOLOGY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The 20-Check Catalog (5 Dimensions)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11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822960" y="1188720"/>
          <a:ext cx="10515599" cy="301752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1828800"/>
                <a:gridCol w="731520"/>
                <a:gridCol w="7955279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Dimension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1">
                          <a:solidFill>
                            <a:srgbClr val="FFFFFF"/>
                          </a:solidFill>
                        </a:rPr>
                        <a:t>#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1">
                          <a:solidFill>
                            <a:srgbClr val="FFFFFF"/>
                          </a:solidFill>
                        </a:rPr>
                        <a:t>Checks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2626"/>
                          </a:solidFill>
                        </a:rPr>
                        <a:t>Quality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62626"/>
                          </a:solidFill>
                        </a:rPr>
                        <a:t>6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2626"/>
                          </a:solidFill>
                        </a:rPr>
                        <a:t>missing values, duplicates, outliers, class imbalance, constant features, low variance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2626"/>
                          </a:solidFill>
                        </a:rPr>
                        <a:t>Leakage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62626"/>
                          </a:solidFill>
                        </a:rPr>
                        <a:t>5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2626"/>
                          </a:solidFill>
                        </a:rPr>
                        <a:t>target leakage, train/test overlap, temporal, ID columns, </a:t>
                      </a:r>
                      <a:r>
                        <a:rPr sz="1400" b="1">
                          <a:solidFill>
                            <a:srgbClr val="262626"/>
                          </a:solidFill>
                        </a:rPr>
                        <a:t>unified risk score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2626"/>
                          </a:solidFill>
                        </a:rPr>
                        <a:t>Features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62626"/>
                          </a:solidFill>
                        </a:rPr>
                        <a:t>3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2626"/>
                          </a:solidFill>
                        </a:rPr>
                        <a:t>correlation structure, MI relevance, distribution shape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2626"/>
                          </a:solidFill>
                        </a:rPr>
                        <a:t>Sufficiency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62626"/>
                          </a:solidFill>
                        </a:rPr>
                        <a:t>4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2626"/>
                          </a:solidFill>
                        </a:rPr>
                        <a:t>sample size, n/p ratio, class support, power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2626"/>
                          </a:solidFill>
                        </a:rPr>
                        <a:t>Drift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400" b="0">
                          <a:solidFill>
                            <a:srgbClr val="262626"/>
                          </a:solidFill>
                        </a:rPr>
                        <a:t>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400" b="0">
                          <a:solidFill>
                            <a:srgbClr val="262626"/>
                          </a:solidFill>
                        </a:rPr>
                        <a:t>KS test, PSI (covariate + label)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822960" y="4480560"/>
            <a:ext cx="10515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0">
                <a:solidFill>
                  <a:srgbClr val="262626"/>
                </a:solidFill>
              </a:rPr>
              <a:t>•  Each check returns a structured CheckResult (pass/fail, severity, affected columns).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262626"/>
                </a:solidFill>
              </a:rPr>
              <a:t>•  Failed checks map to </a:t>
            </a:r>
            <a:r>
              <a:rPr sz="1600" b="1">
                <a:solidFill>
                  <a:srgbClr val="262626"/>
                </a:solidFill>
              </a:rPr>
              <a:t>20 recommendation handlers</a:t>
            </a:r>
            <a:r>
              <a:rPr sz="1600" b="0">
                <a:solidFill>
                  <a:srgbClr val="262626"/>
                </a:solidFill>
              </a:rPr>
              <a:t> producing code-level fixes.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262626"/>
                </a:solidFill>
              </a:rPr>
              <a:t>•  Optional 21st check: LLM semantic leakage (disabled by default).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SYSTEM &amp; METHODOLOGY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Unified Leakage Risk Score  L(f)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12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94560" y="1188720"/>
            <a:ext cx="7772400" cy="777240"/>
          </a:xfrm>
          <a:prstGeom prst="roundRect">
            <a:avLst>
              <a:gd name="adj" fmla="val 30000"/>
            </a:avLst>
          </a:prstGeom>
          <a:solidFill>
            <a:srgbClr val="E8EFF9"/>
          </a:solidFill>
          <a:ln w="12700">
            <a:solidFill>
              <a:srgbClr val="243F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2300" b="1">
                <a:solidFill>
                  <a:srgbClr val="243F60"/>
                </a:solidFill>
              </a:rPr>
              <a:t>L(f)  =  0.35 · ρ(f)  +  0.35 · Ĩ(f; y)  +  0.30 · π(f)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33172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251460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>
                <a:solidFill>
                  <a:srgbClr val="243F60"/>
                </a:solidFill>
              </a:rPr>
              <a:t>ρ(f) — correlation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262626"/>
                </a:solidFill>
              </a:rPr>
              <a:t>Pearson |r| (numeric) or Cramér's V (categorical), in [0, 1]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43400" y="233172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26280" y="251460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>
                <a:solidFill>
                  <a:srgbClr val="243F60"/>
                </a:solidFill>
              </a:rPr>
              <a:t>Ĩ(f; y) — mutual information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262626"/>
                </a:solidFill>
              </a:rPr>
              <a:t>normalized by the maximum MI across features, in [0, 1]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46720" y="2331720"/>
            <a:ext cx="3566160" cy="173736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0" y="2514600"/>
            <a:ext cx="320040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1">
                <a:solidFill>
                  <a:srgbClr val="243F60"/>
                </a:solidFill>
              </a:rPr>
              <a:t>π(f) — performance inflation</a:t>
            </a:r>
          </a:p>
          <a:p>
            <a:pPr algn="l">
              <a:spcBef>
                <a:spcPts val="500"/>
              </a:spcBef>
            </a:pPr>
            <a:r>
              <a:rPr sz="1250" b="0">
                <a:solidFill>
                  <a:srgbClr val="262626"/>
                </a:solidFill>
              </a:rPr>
              <a:t>(A_f − A_base) / (1 − A_base): how close does this single feature get a model to perfect accuracy?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2194560" y="4526280"/>
            <a:ext cx="7772400" cy="365760"/>
          </a:xfrm>
          <a:prstGeom prst="roundRect">
            <a:avLst>
              <a:gd name="adj" fmla="val 30000"/>
            </a:avLst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l"/>
            <a:r>
              <a:rPr sz="1400" b="1">
                <a:solidFill>
                  <a:srgbClr val="FFFFFF"/>
                </a:solidFill>
              </a:rPr>
              <a:t>Flagging thresholds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194560" y="4892040"/>
            <a:ext cx="7772400" cy="685800"/>
          </a:xfrm>
          <a:prstGeom prst="rect">
            <a:avLst/>
          </a:prstGeom>
          <a:solidFill>
            <a:srgbClr val="FFF3E6"/>
          </a:solidFill>
          <a:ln w="6350">
            <a:solidFill>
              <a:srgbClr val="FF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500"/>
              </a:spcAft>
            </a:pPr>
            <a:r>
              <a:rPr sz="1800" b="0">
                <a:solidFill>
                  <a:srgbClr val="262626"/>
                </a:solidFill>
              </a:rPr>
              <a:t>L(f) ≥ 0.7  ⇒  </a:t>
            </a:r>
            <a:r>
              <a:rPr sz="1800" b="1">
                <a:solidFill>
                  <a:srgbClr val="262626"/>
                </a:solidFill>
              </a:rPr>
              <a:t>warning</a:t>
            </a:r>
            <a:r>
              <a:rPr sz="1800" b="0">
                <a:solidFill>
                  <a:srgbClr val="262626"/>
                </a:solidFill>
              </a:rPr>
              <a:t>             L(f) ≥ 0.9  ⇒  </a:t>
            </a:r>
            <a:r>
              <a:rPr sz="1800" b="1">
                <a:solidFill>
                  <a:srgbClr val="262626"/>
                </a:solidFill>
              </a:rPr>
              <a:t>error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852160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Single statistics miss real leaks; three complementary signals are far more robust.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SYSTEM &amp; METHODOLOGY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Are the Weights Arbitrary? — Ablation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09728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62626"/>
                </a:solidFill>
              </a:rPr>
              <a:t>Weight-sensitivity analysis on known leaky features (Titanic):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463040" y="1645920"/>
          <a:ext cx="9235440" cy="1901952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4206240"/>
                <a:gridCol w="2011680"/>
                <a:gridCol w="3017520"/>
              </a:tblGrid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Weight scheme  (ρ / Ĩ / π)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L(name)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L(boat)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262626"/>
                          </a:solidFill>
                        </a:rPr>
                        <a:t>Default (0.35 / 0.35 / 0.30)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62626"/>
                          </a:solidFill>
                        </a:rPr>
                        <a:t>1.000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62626"/>
                          </a:solidFill>
                        </a:rPr>
                        <a:t>0.74</a:t>
                      </a:r>
                      <a:r>
                        <a:rPr sz="1500" b="0">
                          <a:solidFill>
                            <a:srgbClr val="262626"/>
                          </a:solidFill>
                        </a:rPr>
                        <a:t>  ✓ flagged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62626"/>
                          </a:solidFill>
                        </a:rPr>
                        <a:t>Correlation-heavy (0.50 / 0.25 / 0.25)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62626"/>
                          </a:solidFill>
                        </a:rPr>
                        <a:t>1.000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62626"/>
                          </a:solidFill>
                        </a:rPr>
                        <a:t>0.662  ✗ below threshold!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62626"/>
                          </a:solidFill>
                        </a:rPr>
                        <a:t>MI- or π-weighted schemes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62626"/>
                          </a:solidFill>
                        </a:rPr>
                        <a:t>1.000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62626"/>
                          </a:solidFill>
                        </a:rPr>
                        <a:t>flagged  ✓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977639"/>
            <a:ext cx="10881360" cy="2286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100"/>
              </a:spcAft>
            </a:pPr>
            <a:r>
              <a:rPr sz="1600" b="0">
                <a:solidFill>
                  <a:srgbClr val="262626"/>
                </a:solidFill>
              </a:rPr>
              <a:t>•  boat (lifeboat number) is a true leak, but its raw correlation is diluted by missing values — an over-weighted correlation term produces a </a:t>
            </a:r>
            <a:r>
              <a:rPr sz="1600" b="1">
                <a:solidFill>
                  <a:srgbClr val="262626"/>
                </a:solidFill>
              </a:rPr>
              <a:t>false negative</a:t>
            </a:r>
            <a:r>
              <a:rPr sz="1600" b="0">
                <a:solidFill>
                  <a:srgbClr val="262626"/>
                </a:solidFill>
              </a:rPr>
              <a:t>.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262626"/>
                </a:solidFill>
              </a:rPr>
              <a:t>•  Every scheme that gives reasonable weight to MI or performance inflation catches it.</a:t>
            </a:r>
          </a:p>
          <a:p>
            <a:pPr algn="l">
              <a:spcAft>
                <a:spcPts val="1100"/>
              </a:spcAft>
            </a:pPr>
            <a:r>
              <a:rPr sz="1600" b="0">
                <a:solidFill>
                  <a:srgbClr val="262626"/>
                </a:solidFill>
              </a:rPr>
              <a:t>•  Empirical evidence that the default weights are </a:t>
            </a:r>
            <a:r>
              <a:rPr sz="1600" b="1">
                <a:solidFill>
                  <a:srgbClr val="262626"/>
                </a:solidFill>
              </a:rPr>
              <a:t>defensible, not decorative</a:t>
            </a:r>
            <a:r>
              <a:rPr sz="1600" b="0">
                <a:solidFill>
                  <a:srgbClr val="262626"/>
                </a:solidFill>
              </a:rPr>
              <a:t>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SYSTEM &amp; METHODOLOGY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Semantic Leakage Analysis with an LLM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14300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43F60"/>
                </a:solidFill>
              </a:rPr>
              <a:t>Why statistics are not enough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554480"/>
            <a:ext cx="5852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</a:rPr>
              <a:t>•  A feature named discharge_date in an ICU mortality dataset is leaky </a:t>
            </a:r>
            <a:r>
              <a:rPr sz="1500" b="1">
                <a:solidFill>
                  <a:srgbClr val="262626"/>
                </a:solidFill>
              </a:rPr>
              <a:t>by meaning</a:t>
            </a:r>
            <a:r>
              <a:rPr sz="1500" b="0">
                <a:solidFill>
                  <a:srgbClr val="262626"/>
                </a:solidFill>
              </a:rPr>
              <a:t>: it may show weak correlation, yet it cannot exist at prediction time.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</a:rPr>
              <a:t>•  No statistical test reads feature </a:t>
            </a:r>
            <a:r>
              <a:rPr sz="1500" b="1">
                <a:solidFill>
                  <a:srgbClr val="262626"/>
                </a:solidFill>
              </a:rPr>
              <a:t>names</a:t>
            </a:r>
            <a:r>
              <a:rPr sz="1500" b="0">
                <a:solidFill>
                  <a:srgbClr val="262626"/>
                </a:solidFill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520440"/>
            <a:ext cx="58521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43F60"/>
                </a:solidFill>
              </a:rPr>
              <a:t>Approach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0080" y="3931920"/>
            <a:ext cx="585216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</a:rPr>
              <a:t>•  Feature names + sample values + dataset description → </a:t>
            </a:r>
            <a:r>
              <a:rPr sz="1500" b="1">
                <a:solidFill>
                  <a:srgbClr val="262626"/>
                </a:solidFill>
              </a:rPr>
              <a:t>GPT-4o-mini</a:t>
            </a:r>
            <a:r>
              <a:rPr sz="1500" b="0">
                <a:solidFill>
                  <a:srgbClr val="262626"/>
                </a:solidFill>
              </a:rPr>
              <a:t> (Azure OpenAI).</a:t>
            </a:r>
          </a:p>
          <a:p>
            <a:pPr algn="l">
              <a:spcAft>
                <a:spcPts val="800"/>
              </a:spcAft>
            </a:pPr>
            <a:r>
              <a:rPr sz="1500" b="0">
                <a:solidFill>
                  <a:srgbClr val="262626"/>
                </a:solidFill>
              </a:rPr>
              <a:t>•  Degrades gracefully without credentials; disabled by default.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858000" y="1280160"/>
            <a:ext cx="4754880" cy="365760"/>
          </a:xfrm>
          <a:prstGeom prst="roundRect">
            <a:avLst>
              <a:gd name="adj" fmla="val 30000"/>
            </a:avLst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l"/>
            <a:r>
              <a:rPr sz="1400" b="1">
                <a:solidFill>
                  <a:srgbClr val="FFFFFF"/>
                </a:solidFill>
              </a:rPr>
              <a:t>Per-feature output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858000" y="1645920"/>
            <a:ext cx="4754880" cy="1600200"/>
          </a:xfrm>
          <a:prstGeom prst="rect">
            <a:avLst/>
          </a:prstGeom>
          <a:solidFill>
            <a:srgbClr val="FFF3E6"/>
          </a:solidFill>
          <a:ln w="6350">
            <a:solidFill>
              <a:srgbClr val="FF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l">
              <a:spcAft>
                <a:spcPts val="500"/>
              </a:spcAft>
            </a:pPr>
            <a:r>
              <a:rPr sz="1400" b="0">
                <a:solidFill>
                  <a:srgbClr val="262626"/>
                </a:solidFill>
              </a:rPr>
              <a:t>risk_level:   none / low / medium / high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262626"/>
                </a:solidFill>
              </a:rPr>
              <a:t>leakage_type:   temporal / proxy / post-hoc / indirect</a:t>
            </a:r>
          </a:p>
          <a:p>
            <a:pPr algn="l">
              <a:spcAft>
                <a:spcPts val="500"/>
              </a:spcAft>
            </a:pPr>
            <a:r>
              <a:rPr sz="1400" b="0">
                <a:solidFill>
                  <a:srgbClr val="262626"/>
                </a:solidFill>
              </a:rPr>
              <a:t>+ natural-language rationale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858000" y="3566160"/>
            <a:ext cx="4754880" cy="13716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43F60"/>
                </a:solidFill>
              </a:rPr>
              <a:t>0% → F1 0.963</a:t>
            </a:r>
          </a:p>
          <a:p>
            <a:pPr algn="ctr"/>
            <a:r>
              <a:rPr sz="1200" b="0">
                <a:solidFill>
                  <a:srgbClr val="555555"/>
                </a:solidFill>
              </a:rPr>
              <a:t>naming-based leakage detection, 30-feature labelled benchmark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58000" y="3566160"/>
            <a:ext cx="4754880" cy="64008"/>
          </a:xfrm>
          <a:prstGeom prst="rect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SYSTEM &amp; METHODOLOGY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Semantic Module: Evaluation and an Honest Caveat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18872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700" b="0">
                <a:solidFill>
                  <a:srgbClr val="262626"/>
                </a:solidFill>
              </a:rPr>
              <a:t>•  Manually labelled </a:t>
            </a:r>
            <a:r>
              <a:rPr sz="1700" b="1">
                <a:solidFill>
                  <a:srgbClr val="262626"/>
                </a:solidFill>
              </a:rPr>
              <a:t>30-feature benchmark</a:t>
            </a:r>
            <a:r>
              <a:rPr sz="1700" b="0">
                <a:solidFill>
                  <a:srgbClr val="262626"/>
                </a:solidFill>
              </a:rPr>
              <a:t> across temporal, proxy, post-hoc, and indirect leakage types (data/semantic_benchmark.json).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194560" y="196596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43F60"/>
                </a:solidFill>
              </a:rPr>
              <a:t>1.00</a:t>
            </a:r>
          </a:p>
          <a:p>
            <a:pPr algn="ctr"/>
            <a:r>
              <a:rPr sz="1200" b="0">
                <a:solidFill>
                  <a:srgbClr val="555555"/>
                </a:solidFill>
              </a:rPr>
              <a:t>Precision</a:t>
            </a:r>
          </a:p>
        </p:txBody>
      </p:sp>
      <p:sp>
        <p:nvSpPr>
          <p:cNvPr id="9" name="Rectangle 8"/>
          <p:cNvSpPr/>
          <p:nvPr/>
        </p:nvSpPr>
        <p:spPr>
          <a:xfrm>
            <a:off x="2194560" y="1965960"/>
            <a:ext cx="2377440" cy="64008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892040" y="196596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43F60"/>
                </a:solidFill>
              </a:rPr>
              <a:t>0.93</a:t>
            </a:r>
          </a:p>
          <a:p>
            <a:pPr algn="ctr"/>
            <a:r>
              <a:rPr sz="1200" b="0">
                <a:solidFill>
                  <a:srgbClr val="555555"/>
                </a:solidFill>
              </a:rPr>
              <a:t>Recall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892040" y="1965960"/>
            <a:ext cx="2377440" cy="64008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7589520" y="1965960"/>
            <a:ext cx="2377440" cy="118872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43F60"/>
                </a:solidFill>
              </a:rPr>
              <a:t>0.963</a:t>
            </a:r>
          </a:p>
          <a:p>
            <a:pPr algn="ctr"/>
            <a:r>
              <a:rPr sz="1200" b="0">
                <a:solidFill>
                  <a:srgbClr val="555555"/>
                </a:solidFill>
              </a:rPr>
              <a:t>F1</a:t>
            </a:r>
          </a:p>
        </p:txBody>
      </p:sp>
      <p:sp>
        <p:nvSpPr>
          <p:cNvPr id="13" name="Rectangle 12"/>
          <p:cNvSpPr/>
          <p:nvPr/>
        </p:nvSpPr>
        <p:spPr>
          <a:xfrm>
            <a:off x="7589520" y="1965960"/>
            <a:ext cx="2377440" cy="64008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40080" y="3520440"/>
            <a:ext cx="10881360" cy="365760"/>
          </a:xfrm>
          <a:prstGeom prst="roundRect">
            <a:avLst>
              <a:gd name="adj" fmla="val 30000"/>
            </a:avLst>
          </a:prstGeom>
          <a:solidFill>
            <a:srgbClr val="B4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l"/>
            <a:r>
              <a:rPr sz="1400" b="1">
                <a:solidFill>
                  <a:srgbClr val="FFFFFF"/>
                </a:solidFill>
              </a:rPr>
              <a:t>Transparency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3886200"/>
            <a:ext cx="10881360" cy="1325880"/>
          </a:xfrm>
          <a:prstGeom prst="rect">
            <a:avLst/>
          </a:prstGeom>
          <a:solidFill>
            <a:srgbClr val="FBEAEA"/>
          </a:solidFill>
          <a:ln w="6350">
            <a:solidFill>
              <a:srgbClr val="B41E1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l">
              <a:spcAft>
                <a:spcPts val="500"/>
              </a:spcAft>
            </a:pPr>
            <a:r>
              <a:rPr sz="1500" b="0">
                <a:solidFill>
                  <a:srgbClr val="262626"/>
                </a:solidFill>
              </a:rPr>
              <a:t>These figures validate the </a:t>
            </a:r>
            <a:r>
              <a:rPr sz="1500" b="1">
                <a:solidFill>
                  <a:srgbClr val="262626"/>
                </a:solidFill>
              </a:rPr>
              <a:t>evaluation harness</a:t>
            </a:r>
            <a:r>
              <a:rPr sz="1500" b="0">
                <a:solidFill>
                  <a:srgbClr val="262626"/>
                </a:solidFill>
              </a:rPr>
              <a:t> using a deterministic mock analyzer — not the live GPT-4o-mini model (Azure credentials were unavailable at evaluation time). A live-model evaluation is the </a:t>
            </a:r>
            <a:r>
              <a:rPr sz="1500" b="1">
                <a:solidFill>
                  <a:srgbClr val="262626"/>
                </a:solidFill>
              </a:rPr>
              <a:t>top-priority item of future work</a:t>
            </a:r>
            <a:r>
              <a:rPr sz="1500" b="0">
                <a:solidFill>
                  <a:srgbClr val="262626"/>
                </a:solidFill>
              </a:rPr>
              <a:t>, and this is stated explicitly in the thesis.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486400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The architecture, prompt design, structured output parsing, and graceful degradation are fully implemented and tested (33 unit tests for Phase 16 modules).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SYSTEM &amp; METHODOLOGY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From 20 Checks to One Number: the Readiness Score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16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371600" y="1234440"/>
            <a:ext cx="9418320" cy="777240"/>
          </a:xfrm>
          <a:prstGeom prst="roundRect">
            <a:avLst>
              <a:gd name="adj" fmla="val 30000"/>
            </a:avLst>
          </a:prstGeom>
          <a:solidFill>
            <a:srgbClr val="E8EFF9"/>
          </a:solidFill>
          <a:ln w="12700">
            <a:solidFill>
              <a:srgbClr val="243F6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900" b="1">
                <a:solidFill>
                  <a:srgbClr val="243F60"/>
                </a:solidFill>
              </a:rPr>
              <a:t>overall  =  0.25·S_quality  +  0.35·S_leakage  +  0.25·S_features  +  0.15·S_sufficiency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2377440"/>
            <a:ext cx="106070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262626"/>
                </a:solidFill>
              </a:rPr>
              <a:t>•  Per dimension: start at 100, subtract </a:t>
            </a:r>
            <a:r>
              <a:rPr sz="1700" b="1">
                <a:solidFill>
                  <a:srgbClr val="262626"/>
                </a:solidFill>
              </a:rPr>
              <a:t>15 per error</a:t>
            </a:r>
            <a:r>
              <a:rPr sz="1700" b="0">
                <a:solidFill>
                  <a:srgbClr val="262626"/>
                </a:solidFill>
              </a:rPr>
              <a:t>, </a:t>
            </a:r>
            <a:r>
              <a:rPr sz="1700" b="1">
                <a:solidFill>
                  <a:srgbClr val="262626"/>
                </a:solidFill>
              </a:rPr>
              <a:t>5 per warning</a:t>
            </a:r>
            <a:r>
              <a:rPr sz="1700" b="0">
                <a:solidFill>
                  <a:srgbClr val="262626"/>
                </a:solidFill>
              </a:rPr>
              <a:t>.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262626"/>
                </a:solidFill>
              </a:rPr>
              <a:t>•  </a:t>
            </a:r>
            <a:r>
              <a:rPr sz="1700" b="1">
                <a:solidFill>
                  <a:srgbClr val="262626"/>
                </a:solidFill>
              </a:rPr>
              <a:t>Leakage carries the largest weight (0.35)</a:t>
            </a:r>
            <a:r>
              <a:rPr sz="1700" b="0">
                <a:solidFill>
                  <a:srgbClr val="262626"/>
                </a:solidFill>
              </a:rPr>
              <a:t>: it is the only failure mode that silently inflates results instead of visibly degrading them.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262626"/>
                </a:solidFill>
              </a:rPr>
              <a:t>•  All weights and penalties are </a:t>
            </a:r>
            <a:r>
              <a:rPr sz="1700" b="1">
                <a:solidFill>
                  <a:srgbClr val="262626"/>
                </a:solidFill>
              </a:rPr>
              <a:t>configurable</a:t>
            </a:r>
            <a:r>
              <a:rPr sz="1700" b="0">
                <a:solidFill>
                  <a:srgbClr val="262626"/>
                </a:solidFill>
              </a:rPr>
              <a:t> in config.yaml.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874519" y="4892040"/>
            <a:ext cx="1508760" cy="548640"/>
          </a:xfrm>
          <a:prstGeom prst="roundRect">
            <a:avLst>
              <a:gd name="adj" fmla="val 35000"/>
            </a:avLst>
          </a:prstGeom>
          <a:solidFill>
            <a:srgbClr val="D6ECD6"/>
          </a:solidFill>
          <a:ln w="635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262626"/>
                </a:solidFill>
              </a:rPr>
              <a:t>A ≥ 85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611879" y="4892040"/>
            <a:ext cx="1508760" cy="548640"/>
          </a:xfrm>
          <a:prstGeom prst="roundRect">
            <a:avLst>
              <a:gd name="adj" fmla="val 35000"/>
            </a:avLst>
          </a:prstGeom>
          <a:solidFill>
            <a:srgbClr val="DDEEEE"/>
          </a:solidFill>
          <a:ln w="635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262626"/>
                </a:solidFill>
              </a:rPr>
              <a:t>B ≥ 70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349239" y="4892040"/>
            <a:ext cx="1508760" cy="548640"/>
          </a:xfrm>
          <a:prstGeom prst="roundRect">
            <a:avLst>
              <a:gd name="adj" fmla="val 35000"/>
            </a:avLst>
          </a:prstGeom>
          <a:solidFill>
            <a:srgbClr val="FFE9CC"/>
          </a:solidFill>
          <a:ln w="635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262626"/>
                </a:solidFill>
              </a:rPr>
              <a:t>C ≥ 55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086599" y="4892040"/>
            <a:ext cx="1508760" cy="548640"/>
          </a:xfrm>
          <a:prstGeom prst="roundRect">
            <a:avLst>
              <a:gd name="adj" fmla="val 35000"/>
            </a:avLst>
          </a:prstGeom>
          <a:solidFill>
            <a:srgbClr val="FFD9A8"/>
          </a:solidFill>
          <a:ln w="635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262626"/>
                </a:solidFill>
              </a:rPr>
              <a:t>D ≥ 40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823959" y="4892040"/>
            <a:ext cx="1508760" cy="548640"/>
          </a:xfrm>
          <a:prstGeom prst="roundRect">
            <a:avLst>
              <a:gd name="adj" fmla="val 35000"/>
            </a:avLst>
          </a:prstGeom>
          <a:solidFill>
            <a:srgbClr val="F6D0D0"/>
          </a:solidFill>
          <a:ln w="6350">
            <a:solidFill>
              <a:srgbClr val="8A8A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600" b="1">
                <a:solidFill>
                  <a:srgbClr val="262626"/>
                </a:solidFill>
              </a:rPr>
              <a:t>F &lt; 40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0" b="1">
                <a:solidFill>
                  <a:srgbClr val="FF8000"/>
                </a:solidFill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461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Experimental Results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160520"/>
            <a:ext cx="2926080" cy="32004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434840"/>
            <a:ext cx="9875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B9C8DC"/>
                </a:solidFill>
              </a:rPr>
              <a:t>Twelve datasets: six synthetic with planted defects, six real-world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B9C8DC"/>
                </a:solidFill>
              </a:rPr>
              <a:t>Readiness scores  ·  the Titanic case study  ·  quantifying leakage damage</a:t>
            </a:r>
          </a:p>
        </p:txBody>
      </p:sp>
      <p:sp>
        <p:nvSpPr>
          <p:cNvPr id="8" name="Oval 7"/>
          <p:cNvSpPr/>
          <p:nvPr/>
        </p:nvSpPr>
        <p:spPr>
          <a:xfrm>
            <a:off x="9539935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23983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08031" y="594360"/>
            <a:ext cx="201168" cy="201168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692079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076127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EXPERIMENTAL RESULTS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Experimental Setup: 12 Datasets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14300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3F60"/>
                </a:solidFill>
              </a:rPr>
              <a:t>6 synthetic — controlled ground truth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554480"/>
            <a:ext cx="5394960" cy="306324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73736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</a:rPr>
              <a:t>•  clean_dataset — control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</a:rPr>
              <a:t>•  dirty_dataset — quality issues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</a:rPr>
              <a:t>•  leaky_dataset — leakage issues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</a:rPr>
              <a:t>•  proxy_leakage — graded noisy proxies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</a:rPr>
              <a:t>•  temporal_leakage_ext — future feature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</a:rPr>
              <a:t>•  multitype_leakage — ICU: proxy + temporal + ID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309360" y="1143000"/>
            <a:ext cx="53949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600" b="1">
                <a:solidFill>
                  <a:srgbClr val="243F60"/>
                </a:solidFill>
              </a:rPr>
              <a:t>6 real-world — OpenML / UCI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309360" y="1554480"/>
            <a:ext cx="5394960" cy="306324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537960" y="1737360"/>
            <a:ext cx="502920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</a:rPr>
              <a:t>•  Titanic (1,309 rows)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</a:rPr>
              <a:t>•  Pima Diabetes (768)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</a:rPr>
              <a:t>•  Adult Census (48,842)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</a:rPr>
              <a:t>•  German Credit (1,000)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</a:rPr>
              <a:t>•  Heart Disease (303)</a:t>
            </a:r>
          </a:p>
          <a:p>
            <a:pPr algn="l">
              <a:spcAft>
                <a:spcPts val="700"/>
              </a:spcAft>
            </a:pPr>
            <a:r>
              <a:rPr sz="1400" b="0">
                <a:solidFill>
                  <a:srgbClr val="262626"/>
                </a:solidFill>
              </a:rPr>
              <a:t>•  Wine Quality (1,599)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4892040"/>
            <a:ext cx="108813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900"/>
              </a:spcAft>
            </a:pPr>
            <a:r>
              <a:rPr sz="1600" b="0">
                <a:solidFill>
                  <a:srgbClr val="262626"/>
                </a:solidFill>
              </a:rPr>
              <a:t>•  Synthetic sets verify the framework </a:t>
            </a:r>
            <a:r>
              <a:rPr sz="1600" b="1">
                <a:solidFill>
                  <a:srgbClr val="262626"/>
                </a:solidFill>
              </a:rPr>
              <a:t>detects what we planted</a:t>
            </a:r>
            <a:r>
              <a:rPr sz="1600" b="0">
                <a:solidFill>
                  <a:srgbClr val="262626"/>
                </a:solidFill>
              </a:rPr>
              <a:t>; real sets verify it </a:t>
            </a:r>
            <a:r>
              <a:rPr sz="1600" b="1">
                <a:solidFill>
                  <a:srgbClr val="262626"/>
                </a:solidFill>
              </a:rPr>
              <a:t>finds surprises in the wild</a:t>
            </a:r>
            <a:r>
              <a:rPr sz="1600" b="0">
                <a:solidFill>
                  <a:srgbClr val="262626"/>
                </a:solidFill>
              </a:rPr>
              <a:t>.</a:t>
            </a:r>
          </a:p>
          <a:p>
            <a:pPr algn="l">
              <a:spcAft>
                <a:spcPts val="900"/>
              </a:spcAft>
            </a:pPr>
            <a:r>
              <a:rPr sz="1600" b="0">
                <a:solidFill>
                  <a:srgbClr val="262626"/>
                </a:solidFill>
              </a:rPr>
              <a:t>•  Full pipeline per dataset: 20 checks + impact analysis (23 results).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EXPERIMENTAL RESULTS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Readiness Scores Discriminate as Designed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19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005840" y="1143000"/>
          <a:ext cx="10149840" cy="402336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1005840" y="5212080"/>
            <a:ext cx="101498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500" b="1">
                <a:solidFill>
                  <a:srgbClr val="2E8B8B"/>
                </a:solidFill>
              </a:rPr>
              <a:t>■ Grade A (≥ 85)        </a:t>
            </a:r>
            <a:r>
              <a:rPr sz="1500" b="1">
                <a:solidFill>
                  <a:srgbClr val="FF8000"/>
                </a:solidFill>
              </a:rPr>
              <a:t>■ Grade B (≥ 70)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5715000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Only the datasets with </a:t>
            </a:r>
            <a:r>
              <a:rPr sz="1200" b="1">
                <a:solidFill>
                  <a:srgbClr val="555555"/>
                </a:solidFill>
              </a:rPr>
              <a:t>confirmed target leakage</a:t>
            </a:r>
            <a:r>
              <a:rPr sz="1200" b="0">
                <a:solidFill>
                  <a:srgbClr val="555555"/>
                </a:solidFill>
              </a:rPr>
              <a:t> drop to grade B — quality noise alone (dirty) stays A.  UCI suite: Adult 92.4, German Credit 97.5, Heart Disease 96.8, Wine Quality 88.6 (all A).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EXPERIMENTAL RESULTS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Case Study: Titanic — Real Leaks in a Classic Dataset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20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234440"/>
            <a:ext cx="6400800" cy="169164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640080" y="1234440"/>
            <a:ext cx="64008" cy="1691640"/>
          </a:xfrm>
          <a:prstGeom prst="rect">
            <a:avLst/>
          </a:prstGeom>
          <a:solidFill>
            <a:srgbClr val="B41E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68680" y="1344168"/>
            <a:ext cx="60350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43F60"/>
                </a:solidFill>
                <a:latin typeface="Consolas"/>
              </a:rPr>
              <a:t>name</a:t>
            </a:r>
            <a:r>
              <a:rPr sz="1300">
                <a:solidFill>
                  <a:srgbClr val="262626"/>
                </a:solidFill>
              </a:rPr>
              <a:t>    Cramér's V = 0.999 with survived</a:t>
            </a:r>
          </a:p>
          <a:p>
            <a:pPr algn="l"/>
            <a:r>
              <a:rPr sz="1300" b="1">
                <a:solidFill>
                  <a:srgbClr val="B41E1E"/>
                </a:solidFill>
              </a:rPr>
              <a:t>target leakage — ERROR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Unique names act as row identifiers.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3108959"/>
            <a:ext cx="6400800" cy="169164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640080" y="3108959"/>
            <a:ext cx="64008" cy="1691640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3218687"/>
            <a:ext cx="6035040" cy="1508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1">
                <a:solidFill>
                  <a:srgbClr val="243F60"/>
                </a:solidFill>
                <a:latin typeface="Consolas"/>
              </a:rPr>
              <a:t>boat</a:t>
            </a:r>
            <a:r>
              <a:rPr sz="1300">
                <a:solidFill>
                  <a:srgbClr val="262626"/>
                </a:solidFill>
              </a:rPr>
              <a:t>    Unified risk score L = 0.74</a:t>
            </a:r>
          </a:p>
          <a:p>
            <a:pPr algn="l"/>
            <a:r>
              <a:rPr sz="1300" b="1">
                <a:solidFill>
                  <a:srgbClr val="FF8000"/>
                </a:solidFill>
              </a:rPr>
              <a:t>post-hoc leakage — WARNING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Lifeboat number is assigned after the outcome: knowing it literally encodes survival.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029200"/>
            <a:ext cx="64008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600"/>
              </a:spcAft>
            </a:pPr>
            <a:r>
              <a:rPr sz="1500" b="0">
                <a:solidFill>
                  <a:srgbClr val="262626"/>
                </a:solidFill>
              </a:rPr>
              <a:t>•  Neither is caught by any of the three baseline tools.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1234440"/>
            <a:ext cx="4297680" cy="365760"/>
          </a:xfrm>
          <a:prstGeom prst="roundRect">
            <a:avLst>
              <a:gd name="adj" fmla="val 30000"/>
            </a:avLst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l"/>
            <a:r>
              <a:rPr sz="1400" b="1">
                <a:solidFill>
                  <a:srgbClr val="FFFFFF"/>
                </a:solidFill>
              </a:rPr>
              <a:t>Why this matters</a:t>
            </a:r>
          </a:p>
        </p:txBody>
      </p:sp>
      <p:sp>
        <p:nvSpPr>
          <p:cNvPr id="15" name="Rectangle 14"/>
          <p:cNvSpPr/>
          <p:nvPr/>
        </p:nvSpPr>
        <p:spPr>
          <a:xfrm>
            <a:off x="7315200" y="1600200"/>
            <a:ext cx="4297680" cy="2011680"/>
          </a:xfrm>
          <a:prstGeom prst="rect">
            <a:avLst/>
          </a:prstGeom>
          <a:solidFill>
            <a:srgbClr val="FFF3E6"/>
          </a:solidFill>
          <a:ln w="6350">
            <a:solidFill>
              <a:srgbClr val="FF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l">
              <a:spcAft>
                <a:spcPts val="500"/>
              </a:spcAft>
            </a:pPr>
            <a:r>
              <a:rPr sz="1350" b="0">
                <a:solidFill>
                  <a:srgbClr val="262626"/>
                </a:solidFill>
              </a:rPr>
              <a:t>Titanic is used in thousands of tutorials and courses. Models “achieving” high accuracy with boat included are </a:t>
            </a:r>
            <a:r>
              <a:rPr sz="1350" b="1">
                <a:solidFill>
                  <a:srgbClr val="262626"/>
                </a:solidFill>
              </a:rPr>
              <a:t>textbook post-hoc leakage</a:t>
            </a:r>
            <a:r>
              <a:rPr sz="1350" b="0">
                <a:solidFill>
                  <a:srgbClr val="262626"/>
                </a:solidFill>
              </a:rPr>
              <a:t> — and it takes an automated tool 30 seconds to prove it.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15200" y="3931920"/>
            <a:ext cx="4297680" cy="123444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43F60"/>
                </a:solidFill>
              </a:rPr>
              <a:t>80.6 / B</a:t>
            </a:r>
          </a:p>
          <a:p>
            <a:pPr algn="ctr"/>
            <a:r>
              <a:rPr sz="1200" b="0">
                <a:solidFill>
                  <a:srgbClr val="555555"/>
                </a:solidFill>
              </a:rPr>
              <a:t>Titanic readiness (14/22 checks passed)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15200" y="3931920"/>
            <a:ext cx="4297680" cy="64008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7200" y="5897880"/>
            <a:ext cx="11277295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>
                <a:solidFill>
                  <a:srgbClr val="555555"/>
                </a:solidFill>
              </a:rPr>
              <a:t>Additional case studies (thesis §5.5): Adult Census (missing values, skew), German Credit (near-zero-MI features), Wine Quality (15% duplicates → error).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EXPERIMENTAL RESULTS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Quantifying the Damage: Impact Analysis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09728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62626"/>
                </a:solidFill>
              </a:rPr>
              <a:t>The pipeline retrains the same model with and without the flagged features (cross-validated):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2377440" y="1691640"/>
          <a:ext cx="7406640" cy="100584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468880"/>
                <a:gridCol w="1828800"/>
                <a:gridCol w="1828800"/>
                <a:gridCol w="1280160"/>
              </a:tblGrid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600" b="1">
                          <a:solidFill>
                            <a:srgbClr val="FFFFFF"/>
                          </a:solidFill>
                        </a:rPr>
                        <a:t>Dataset (LR)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Baseline acc.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Cleaned acc.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FFFFFF"/>
                          </a:solidFill>
                        </a:rPr>
                        <a:t>Δ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600" b="0">
                          <a:solidFill>
                            <a:srgbClr val="262626"/>
                          </a:solidFill>
                        </a:rPr>
                        <a:t>leaky_dataset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</a:rPr>
                        <a:t>1.000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0">
                          <a:solidFill>
                            <a:srgbClr val="262626"/>
                          </a:solidFill>
                        </a:rPr>
                        <a:t>0.952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600" b="1">
                          <a:solidFill>
                            <a:srgbClr val="262626"/>
                          </a:solidFill>
                        </a:rPr>
                        <a:t>−0.048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3154680"/>
            <a:ext cx="1088136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200"/>
              </a:spcAft>
            </a:pPr>
            <a:r>
              <a:rPr sz="1700" b="0">
                <a:solidFill>
                  <a:srgbClr val="262626"/>
                </a:solidFill>
              </a:rPr>
              <a:t>•  A </a:t>
            </a:r>
            <a:r>
              <a:rPr sz="1700" b="1">
                <a:solidFill>
                  <a:srgbClr val="262626"/>
                </a:solidFill>
              </a:rPr>
              <a:t>positive</a:t>
            </a:r>
            <a:r>
              <a:rPr sz="1700" b="0">
                <a:solidFill>
                  <a:srgbClr val="262626"/>
                </a:solidFill>
              </a:rPr>
              <a:t> baseline−cleaned gap is direct, quantified evidence of leakage — not just a statistical suspicion.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262626"/>
                </a:solidFill>
              </a:rPr>
              <a:t>•  This closes the loop on the motivating example: the framework </a:t>
            </a:r>
            <a:r>
              <a:rPr sz="1700" b="1">
                <a:solidFill>
                  <a:srgbClr val="262626"/>
                </a:solidFill>
              </a:rPr>
              <a:t>finds</a:t>
            </a:r>
            <a:r>
              <a:rPr sz="1700" b="0">
                <a:solidFill>
                  <a:srgbClr val="262626"/>
                </a:solidFill>
              </a:rPr>
              <a:t> the leak, </a:t>
            </a:r>
            <a:r>
              <a:rPr sz="1700" b="1">
                <a:solidFill>
                  <a:srgbClr val="262626"/>
                </a:solidFill>
              </a:rPr>
              <a:t>explains</a:t>
            </a:r>
            <a:r>
              <a:rPr sz="1700" b="0">
                <a:solidFill>
                  <a:srgbClr val="262626"/>
                </a:solidFill>
              </a:rPr>
              <a:t> it, and </a:t>
            </a:r>
            <a:r>
              <a:rPr sz="1700" b="1">
                <a:solidFill>
                  <a:srgbClr val="262626"/>
                </a:solidFill>
              </a:rPr>
              <a:t>measures</a:t>
            </a:r>
            <a:r>
              <a:rPr sz="1700" b="0">
                <a:solidFill>
                  <a:srgbClr val="262626"/>
                </a:solidFill>
              </a:rPr>
              <a:t> how much of the reported performance was fake.</a:t>
            </a:r>
          </a:p>
          <a:p>
            <a:pPr algn="l">
              <a:spcAft>
                <a:spcPts val="1200"/>
              </a:spcAft>
            </a:pPr>
            <a:r>
              <a:rPr sz="1700" b="0">
                <a:solidFill>
                  <a:srgbClr val="262626"/>
                </a:solidFill>
              </a:rPr>
              <a:t>•  Recommendations then emit the exact pandas code to drop or re-derive the offending columns.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0" b="1">
                <a:solidFill>
                  <a:srgbClr val="FF8000"/>
                </a:solidFill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461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Benchmark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160520"/>
            <a:ext cx="2926080" cy="32004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434840"/>
            <a:ext cx="9875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B9C8DC"/>
                </a:solidFill>
              </a:rPr>
              <a:t>Feature coverage on a 29-item cross-tool checklist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B9C8DC"/>
                </a:solidFill>
              </a:rPr>
              <a:t>Leakage detection on four constructed scenarios — the decisive result</a:t>
            </a:r>
          </a:p>
        </p:txBody>
      </p:sp>
      <p:sp>
        <p:nvSpPr>
          <p:cNvPr id="8" name="Oval 7"/>
          <p:cNvSpPr/>
          <p:nvPr/>
        </p:nvSpPr>
        <p:spPr>
          <a:xfrm>
            <a:off x="9539935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23983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08031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692079" y="594360"/>
            <a:ext cx="201168" cy="201168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076127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BENCHMARK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Feature Coverage vs. Three Established Tools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23</a:t>
            </a:r>
          </a:p>
        </p:txBody>
      </p:sp>
      <p:graphicFrame>
        <p:nvGraphicFramePr>
          <p:cNvPr id="7" name="Chart 6"/>
          <p:cNvGraphicFramePr>
            <a:graphicFrameLocks noGrp="1"/>
          </p:cNvGraphicFramePr>
          <p:nvPr/>
        </p:nvGraphicFramePr>
        <p:xfrm>
          <a:off x="1280160" y="1143000"/>
          <a:ext cx="9601200" cy="329184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8" name="TextBox 7"/>
          <p:cNvSpPr txBox="1"/>
          <p:nvPr/>
        </p:nvSpPr>
        <p:spPr>
          <a:xfrm>
            <a:off x="640080" y="4617720"/>
            <a:ext cx="10881360" cy="1737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800"/>
              </a:spcAft>
            </a:pPr>
            <a:r>
              <a:rPr sz="1450" b="0">
                <a:solidFill>
                  <a:srgbClr val="262626"/>
                </a:solidFill>
              </a:rPr>
              <a:t>•  The 29-item checklist is a </a:t>
            </a:r>
            <a:r>
              <a:rPr sz="1450" b="1">
                <a:solidFill>
                  <a:srgbClr val="262626"/>
                </a:solidFill>
              </a:rPr>
              <a:t>cross-tool comparison instrument</a:t>
            </a:r>
            <a:r>
              <a:rPr sz="1450" b="0">
                <a:solidFill>
                  <a:srgbClr val="262626"/>
                </a:solidFill>
              </a:rPr>
              <a:t> (more granular than the 20-check pipeline; the two numbers measure different things).</a:t>
            </a:r>
          </a:p>
          <a:p>
            <a:pPr algn="l">
              <a:spcAft>
                <a:spcPts val="800"/>
              </a:spcAft>
            </a:pPr>
            <a:r>
              <a:rPr sz="1450" b="0">
                <a:solidFill>
                  <a:srgbClr val="262626"/>
                </a:solidFill>
              </a:rPr>
              <a:t>•  </a:t>
            </a:r>
            <a:r>
              <a:rPr sz="1450" b="1">
                <a:solidFill>
                  <a:srgbClr val="262626"/>
                </a:solidFill>
              </a:rPr>
              <a:t>Fairness note</a:t>
            </a:r>
            <a:r>
              <a:rPr sz="1450" b="0">
                <a:solidFill>
                  <a:srgbClr val="262626"/>
                </a:solidFill>
              </a:rPr>
              <a:t>: the baselines target profiling/validation, not leakage — the comparison measures scope, and the checklist was published with the benchmark code for scrutiny.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BENCHMARK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Leakage Detection — the Decisive Result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097280"/>
            <a:ext cx="108813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0">
                <a:solidFill>
                  <a:srgbClr val="262626"/>
                </a:solidFill>
              </a:rPr>
              <a:t>Four constructed leakage scenarios, each tool run with default configuration: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1188720" y="1645920"/>
          <a:ext cx="9784080" cy="274320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3566160"/>
                <a:gridCol w="1828800"/>
                <a:gridCol w="1371600"/>
                <a:gridCol w="1645920"/>
                <a:gridCol w="1371600"/>
              </a:tblGrid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FFFFFF"/>
                          </a:solidFill>
                        </a:rPr>
                        <a:t>Scenario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ml-framework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ydata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Deepchecks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FFFFFF"/>
                          </a:solidFill>
                        </a:rPr>
                        <a:t>Great Exp.</a:t>
                      </a:r>
                    </a:p>
                  </a:txBody>
                  <a:tcPr anchor="ctr" marL="73152" marR="73152">
                    <a:solidFill>
                      <a:srgbClr val="243F60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62626"/>
                          </a:solidFill>
                        </a:rPr>
                        <a:t>Perfect proxy (r = 1.0)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E7A1E"/>
                          </a:solidFill>
                        </a:rPr>
                        <a:t>✓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B41E1E"/>
                          </a:solidFill>
                        </a:rPr>
                        <a:t>✗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B41E1E"/>
                          </a:solidFill>
                        </a:rPr>
                        <a:t>✗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B41E1E"/>
                          </a:solidFill>
                        </a:rPr>
                        <a:t>✗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62626"/>
                          </a:solidFill>
                        </a:rPr>
                        <a:t>Noisy proxy (r ≈ 0.97)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E7A1E"/>
                          </a:solidFill>
                        </a:rPr>
                        <a:t>✓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B41E1E"/>
                          </a:solidFill>
                        </a:rPr>
                        <a:t>✗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B41E1E"/>
                          </a:solidFill>
                        </a:rPr>
                        <a:t>✗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B41E1E"/>
                          </a:solidFill>
                        </a:rPr>
                        <a:t>✗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62626"/>
                          </a:solidFill>
                        </a:rPr>
                        <a:t>ID column (100% cardinality)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E7A1E"/>
                          </a:solidFill>
                        </a:rPr>
                        <a:t>✓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B41E1E"/>
                          </a:solidFill>
                        </a:rPr>
                        <a:t>✗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B41E1E"/>
                          </a:solidFill>
                        </a:rPr>
                        <a:t>✗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E7A1E"/>
                          </a:solidFill>
                        </a:rPr>
                        <a:t>✓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0">
                          <a:solidFill>
                            <a:srgbClr val="262626"/>
                          </a:solidFill>
                        </a:rPr>
                        <a:t>Indirect computed feature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1E7A1E"/>
                          </a:solidFill>
                        </a:rPr>
                        <a:t>✓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B41E1E"/>
                          </a:solidFill>
                        </a:rPr>
                        <a:t>✗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B41E1E"/>
                          </a:solidFill>
                        </a:rPr>
                        <a:t>✗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B41E1E"/>
                          </a:solidFill>
                        </a:rPr>
                        <a:t>✗</a:t>
                      </a:r>
                    </a:p>
                  </a:txBody>
                  <a:tcPr anchor="ctr" marL="73152" marR="73152">
                    <a:solidFill>
                      <a:srgbClr val="EDF1F7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/>
                      <a:r>
                        <a:rPr sz="1500" b="1">
                          <a:solidFill>
                            <a:srgbClr val="262626"/>
                          </a:solidFill>
                        </a:rPr>
                        <a:t>Detection rate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1">
                          <a:solidFill>
                            <a:srgbClr val="262626"/>
                          </a:solidFill>
                        </a:rPr>
                        <a:t>4/4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62626"/>
                          </a:solidFill>
                        </a:rPr>
                        <a:t>0/4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62626"/>
                          </a:solidFill>
                        </a:rPr>
                        <a:t>0/4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500" b="0">
                          <a:solidFill>
                            <a:srgbClr val="262626"/>
                          </a:solidFill>
                        </a:rPr>
                        <a:t>1/4</a:t>
                      </a:r>
                    </a:p>
                  </a:txBody>
                  <a:tcPr anchor="ctr" marL="73152" marR="7315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40080" y="4709160"/>
            <a:ext cx="1088136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1000"/>
              </a:spcAft>
            </a:pPr>
            <a:r>
              <a:rPr sz="1700" b="0">
                <a:solidFill>
                  <a:srgbClr val="262626"/>
                </a:solidFill>
              </a:rPr>
              <a:t>•  Great Expectations' single detection required a </a:t>
            </a:r>
            <a:r>
              <a:rPr sz="1700" b="1">
                <a:solidFill>
                  <a:srgbClr val="262626"/>
                </a:solidFill>
              </a:rPr>
              <a:t>manually authored rule</a:t>
            </a:r>
            <a:r>
              <a:rPr sz="1700" b="0">
                <a:solidFill>
                  <a:srgbClr val="262626"/>
                </a:solidFill>
              </a:rPr>
              <a:t>; ml-framework's four are fully automatic.</a:t>
            </a:r>
          </a:p>
          <a:p>
            <a:pPr algn="l">
              <a:spcAft>
                <a:spcPts val="1000"/>
              </a:spcAft>
            </a:pPr>
            <a:r>
              <a:rPr sz="1700" b="0">
                <a:solidFill>
                  <a:srgbClr val="262626"/>
                </a:solidFill>
              </a:rPr>
              <a:t>•  This is precisely the gap the thesis set out to fill.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1325880"/>
            <a:ext cx="365760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0" b="1">
                <a:solidFill>
                  <a:srgbClr val="FF8000"/>
                </a:solidFill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68680" y="3246120"/>
            <a:ext cx="105156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>
                <a:solidFill>
                  <a:srgbClr val="FFFFFF"/>
                </a:solidFill>
              </a:rPr>
              <a:t>Demo &amp; Conclusions</a:t>
            </a:r>
          </a:p>
        </p:txBody>
      </p:sp>
      <p:sp>
        <p:nvSpPr>
          <p:cNvPr id="6" name="Rectangle 5"/>
          <p:cNvSpPr/>
          <p:nvPr/>
        </p:nvSpPr>
        <p:spPr>
          <a:xfrm>
            <a:off x="914400" y="4160520"/>
            <a:ext cx="2926080" cy="32004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434840"/>
            <a:ext cx="98755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spcAft>
                <a:spcPts val="400"/>
              </a:spcAft>
            </a:pPr>
            <a:r>
              <a:rPr sz="1600" b="0">
                <a:solidFill>
                  <a:srgbClr val="B9C8DC"/>
                </a:solidFill>
              </a:rPr>
              <a:t>Live Streamlit demo on the Titanic dataset</a:t>
            </a:r>
          </a:p>
          <a:p>
            <a:pPr algn="l">
              <a:spcAft>
                <a:spcPts val="400"/>
              </a:spcAft>
            </a:pPr>
            <a:r>
              <a:rPr sz="1600" b="0">
                <a:solidFill>
                  <a:srgbClr val="B9C8DC"/>
                </a:solidFill>
              </a:rPr>
              <a:t>Conclusions  ·  future research directions</a:t>
            </a:r>
          </a:p>
        </p:txBody>
      </p:sp>
      <p:sp>
        <p:nvSpPr>
          <p:cNvPr id="8" name="Oval 7"/>
          <p:cNvSpPr/>
          <p:nvPr/>
        </p:nvSpPr>
        <p:spPr>
          <a:xfrm>
            <a:off x="9539935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9923983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10308031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0692079" y="594360"/>
            <a:ext cx="201168" cy="201168"/>
          </a:xfrm>
          <a:prstGeom prst="ellipse">
            <a:avLst/>
          </a:prstGeom>
          <a:solidFill>
            <a:srgbClr val="4A638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1076127" y="594360"/>
            <a:ext cx="201168" cy="201168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DEMO &amp; CONCLUSIONS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Live Demo: Streamlit Web Application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143000"/>
            <a:ext cx="60350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700" b="1">
                <a:solidFill>
                  <a:srgbClr val="243F60"/>
                </a:solidFill>
              </a:rPr>
              <a:t>What you will see (titanic.csv):</a:t>
            </a:r>
          </a:p>
        </p:txBody>
      </p:sp>
      <p:sp>
        <p:nvSpPr>
          <p:cNvPr id="8" name="Oval 7"/>
          <p:cNvSpPr/>
          <p:nvPr/>
        </p:nvSpPr>
        <p:spPr>
          <a:xfrm>
            <a:off x="685800" y="1691640"/>
            <a:ext cx="384048" cy="384048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1705356"/>
            <a:ext cx="5394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262626"/>
                </a:solidFill>
              </a:rPr>
              <a:t>Upload the CSV, select survived as target.</a:t>
            </a:r>
          </a:p>
        </p:txBody>
      </p:sp>
      <p:sp>
        <p:nvSpPr>
          <p:cNvPr id="10" name="Oval 9"/>
          <p:cNvSpPr/>
          <p:nvPr/>
        </p:nvSpPr>
        <p:spPr>
          <a:xfrm>
            <a:off x="685800" y="2496312"/>
            <a:ext cx="384048" cy="384048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2510028"/>
            <a:ext cx="5394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262626"/>
                </a:solidFill>
              </a:rPr>
              <a:t>Pipeline runs live: 20 checks + impact analysis.</a:t>
            </a:r>
          </a:p>
        </p:txBody>
      </p:sp>
      <p:sp>
        <p:nvSpPr>
          <p:cNvPr id="12" name="Oval 11"/>
          <p:cNvSpPr/>
          <p:nvPr/>
        </p:nvSpPr>
        <p:spPr>
          <a:xfrm>
            <a:off x="685800" y="3300984"/>
            <a:ext cx="384048" cy="384048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234440" y="3314700"/>
            <a:ext cx="5394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262626"/>
                </a:solidFill>
              </a:rPr>
              <a:t>Readiness score </a:t>
            </a:r>
            <a:r>
              <a:rPr sz="1450" b="1">
                <a:solidFill>
                  <a:srgbClr val="262626"/>
                </a:solidFill>
              </a:rPr>
              <a:t>80.6 / B</a:t>
            </a:r>
            <a:r>
              <a:rPr sz="1450" b="0">
                <a:solidFill>
                  <a:srgbClr val="262626"/>
                </a:solidFill>
              </a:rPr>
              <a:t> with per-dimension breakdown.</a:t>
            </a:r>
          </a:p>
        </p:txBody>
      </p:sp>
      <p:sp>
        <p:nvSpPr>
          <p:cNvPr id="14" name="Oval 13"/>
          <p:cNvSpPr/>
          <p:nvPr/>
        </p:nvSpPr>
        <p:spPr>
          <a:xfrm>
            <a:off x="685800" y="4105656"/>
            <a:ext cx="384048" cy="384048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234440" y="4119372"/>
            <a:ext cx="5394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262626"/>
                </a:solidFill>
              </a:rPr>
              <a:t>name and boat flagged with explanations and suggested fixes.</a:t>
            </a:r>
          </a:p>
        </p:txBody>
      </p:sp>
      <p:sp>
        <p:nvSpPr>
          <p:cNvPr id="16" name="Oval 15"/>
          <p:cNvSpPr/>
          <p:nvPr/>
        </p:nvSpPr>
        <p:spPr>
          <a:xfrm>
            <a:off x="685800" y="4910328"/>
            <a:ext cx="384048" cy="384048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400" b="1">
                <a:solidFill>
                  <a:srgbClr val="FFFFFF"/>
                </a:solidFill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234440" y="4924044"/>
            <a:ext cx="539496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50" b="0">
                <a:solidFill>
                  <a:srgbClr val="262626"/>
                </a:solidFill>
              </a:rPr>
              <a:t>Downloadable HTML report.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040880" y="1280160"/>
            <a:ext cx="4572000" cy="365760"/>
          </a:xfrm>
          <a:prstGeom prst="roundRect">
            <a:avLst>
              <a:gd name="adj" fmla="val 30000"/>
            </a:avLst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137160"/>
          <a:lstStyle/>
          <a:p>
            <a:pPr algn="l"/>
            <a:r>
              <a:rPr sz="1400" b="1">
                <a:solidFill>
                  <a:srgbClr val="FFFFFF"/>
                </a:solidFill>
              </a:rPr>
              <a:t>Run it yourself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040880" y="1645920"/>
            <a:ext cx="4572000" cy="640080"/>
          </a:xfrm>
          <a:prstGeom prst="rect">
            <a:avLst/>
          </a:prstGeom>
          <a:solidFill>
            <a:srgbClr val="FFF3E6"/>
          </a:solidFill>
          <a:ln w="6350">
            <a:solidFill>
              <a:srgbClr val="FF80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37160" rIns="137160" tIns="73152"/>
          <a:lstStyle/>
          <a:p>
            <a:pPr algn="ctr">
              <a:spcAft>
                <a:spcPts val="500"/>
              </a:spcAft>
            </a:pPr>
            <a:r>
              <a:rPr sz="1600" b="0">
                <a:solidFill>
                  <a:srgbClr val="262626"/>
                </a:solidFill>
              </a:rPr>
              <a:t>streamlit run app/app.py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040880" y="2606040"/>
            <a:ext cx="45720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>
                <a:solidFill>
                  <a:srgbClr val="555555"/>
                </a:solidFill>
              </a:rPr>
              <a:t>Seven tabs: overview, quality, leakage, features, sufficiency, impact, readiness summary.</a:t>
            </a:r>
          </a:p>
          <a:p>
            <a:pPr algn="l">
              <a:spcBef>
                <a:spcPts val="1000"/>
              </a:spcBef>
            </a:pPr>
            <a:r>
              <a:rPr sz="1300" b="0">
                <a:solidFill>
                  <a:srgbClr val="555555"/>
                </a:solidFill>
              </a:rPr>
              <a:t>(Backup: pre-recorded capture and generated HTML report, in case of demo issues.)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DEMO &amp; CONCLUSIONS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Conclusions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27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1188720"/>
            <a:ext cx="5349240" cy="164592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804672" y="1353312"/>
            <a:ext cx="402336" cy="402336"/>
          </a:xfrm>
          <a:prstGeom prst="ellipse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25880" y="1316736"/>
            <a:ext cx="4480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43F60"/>
                </a:solidFill>
              </a:rPr>
              <a:t>Automation is feasible end-to-end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One config + one CSV → scored, explained, actionable verdict on dataset quality and leakage.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72200" y="1188720"/>
            <a:ext cx="5349240" cy="164592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336792" y="1353312"/>
            <a:ext cx="402336" cy="402336"/>
          </a:xfrm>
          <a:prstGeom prst="ellipse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858000" y="1316736"/>
            <a:ext cx="4480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43F60"/>
                </a:solidFill>
              </a:rPr>
              <a:t>The unified L(f) score works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Detects leaks no single statistic catches, with ablation-backed weights — 4/4 benchmark scenarios vs. 0–1/4 for existing tools.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2971800"/>
            <a:ext cx="5349240" cy="164592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36392"/>
            <a:ext cx="402336" cy="402336"/>
          </a:xfrm>
          <a:prstGeom prst="ellipse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25880" y="3099816"/>
            <a:ext cx="4480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43F60"/>
                </a:solidFill>
              </a:rPr>
              <a:t>LLMs extend detection to semantics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Leakage invisible to statistics becomes detectable; evaluation harness built and validated, live-model run queued.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971800"/>
            <a:ext cx="5349240" cy="164592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6336792" y="3136392"/>
            <a:ext cx="402336" cy="402336"/>
          </a:xfrm>
          <a:prstGeom prst="ellipse">
            <a:avLst/>
          </a:prstGeom>
          <a:solidFill>
            <a:srgbClr val="2E8B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858000" y="3099816"/>
            <a:ext cx="448056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43F60"/>
                </a:solidFill>
              </a:rPr>
              <a:t>Real issues found in classic datasets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Titanic boat/name and Wine Quality duplicates — previously unflagged by standard tooling.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1508760" y="4892040"/>
            <a:ext cx="219456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43F60"/>
                </a:solidFill>
              </a:rPr>
              <a:t>17</a:t>
            </a:r>
          </a:p>
          <a:p>
            <a:pPr algn="ctr"/>
            <a:r>
              <a:rPr sz="1200" b="0">
                <a:solidFill>
                  <a:srgbClr val="555555"/>
                </a:solidFill>
              </a:rPr>
              <a:t>development phases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08760" y="4892040"/>
            <a:ext cx="2194560" cy="64008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886200" y="4892040"/>
            <a:ext cx="219456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43F60"/>
                </a:solidFill>
              </a:rPr>
              <a:t>14</a:t>
            </a:r>
          </a:p>
          <a:p>
            <a:pPr algn="ctr"/>
            <a:r>
              <a:rPr sz="1200" b="0">
                <a:solidFill>
                  <a:srgbClr val="555555"/>
                </a:solidFill>
              </a:rPr>
              <a:t>source modules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886200" y="4892040"/>
            <a:ext cx="2194560" cy="64008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6263640" y="4892040"/>
            <a:ext cx="219456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43F60"/>
                </a:solidFill>
              </a:rPr>
              <a:t>325/325</a:t>
            </a:r>
          </a:p>
          <a:p>
            <a:pPr algn="ctr"/>
            <a:r>
              <a:rPr sz="1200" b="0">
                <a:solidFill>
                  <a:srgbClr val="555555"/>
                </a:solidFill>
              </a:rPr>
              <a:t>tests passing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263640" y="4892040"/>
            <a:ext cx="2194560" cy="64008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641080" y="4892040"/>
            <a:ext cx="2194560" cy="1143000"/>
          </a:xfrm>
          <a:prstGeom prst="roundRect">
            <a:avLst>
              <a:gd name="adj" fmla="val 12000"/>
            </a:avLst>
          </a:prstGeom>
          <a:solidFill>
            <a:srgbClr val="FFFFFF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3000" b="1">
                <a:solidFill>
                  <a:srgbClr val="243F60"/>
                </a:solidFill>
              </a:rPr>
              <a:t>3</a:t>
            </a:r>
          </a:p>
          <a:p>
            <a:pPr algn="ctr"/>
            <a:r>
              <a:rPr sz="1200" b="0">
                <a:solidFill>
                  <a:srgbClr val="555555"/>
                </a:solidFill>
              </a:rPr>
              <a:t>user interfaces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641080" y="4892040"/>
            <a:ext cx="2194560" cy="64008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86868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457200" tIns="73152"/>
          <a:lstStyle/>
          <a:p>
            <a:pPr algn="l"/>
            <a:r>
              <a:rPr sz="1100" b="1">
                <a:solidFill>
                  <a:srgbClr val="FF8000"/>
                </a:solidFill>
              </a:rPr>
              <a:t>DEMO &amp; CONCLUSIONS</a:t>
            </a:r>
          </a:p>
          <a:p>
            <a:pPr algn="l"/>
            <a:r>
              <a:rPr sz="2400" b="1">
                <a:solidFill>
                  <a:srgbClr val="FFFFFF"/>
                </a:solidFill>
              </a:rPr>
              <a:t>Future Work</a:t>
            </a:r>
          </a:p>
        </p:txBody>
      </p:sp>
      <p:sp>
        <p:nvSpPr>
          <p:cNvPr id="3" name="Rectangle 2"/>
          <p:cNvSpPr/>
          <p:nvPr/>
        </p:nvSpPr>
        <p:spPr>
          <a:xfrm>
            <a:off x="0" y="868680"/>
            <a:ext cx="12191695" cy="36576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457200" y="6510528"/>
            <a:ext cx="11277295" cy="12700"/>
          </a:xfrm>
          <a:prstGeom prst="rect">
            <a:avLst/>
          </a:prstGeom>
          <a:solidFill>
            <a:srgbClr val="D5D9E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6547104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>
                <a:solidFill>
                  <a:srgbClr val="8A8A8A"/>
                </a:solidFill>
              </a:rPr>
              <a:t>Dataset Quality Assessment &amp; Data Leakage Detection  ·  J. Cano Moraño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1323015" y="6528816"/>
            <a:ext cx="411480" cy="256032"/>
          </a:xfrm>
          <a:prstGeom prst="roundRect">
            <a:avLst>
              <a:gd name="adj" fmla="val 50000"/>
            </a:avLst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tIns="0" rIns="0" bIns="0"/>
          <a:lstStyle/>
          <a:p>
            <a:pPr algn="ctr"/>
            <a:r>
              <a:rPr sz="1100" b="1">
                <a:solidFill>
                  <a:srgbClr val="FFFFFF"/>
                </a:solidFill>
              </a:rPr>
              <a:t>28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1188720" y="1280160"/>
            <a:ext cx="9784080" cy="11430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1353312" y="1444752"/>
            <a:ext cx="402336" cy="402336"/>
          </a:xfrm>
          <a:prstGeom prst="ellipse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20" y="1408176"/>
            <a:ext cx="8915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43F60"/>
                </a:solidFill>
              </a:rPr>
              <a:t>Live LLM evaluation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of the semantic module against the 30-feature benchmark — top priority; the harness is ready, only credentials are missing.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188720" y="2578608"/>
            <a:ext cx="9784080" cy="11430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1353312" y="2743200"/>
            <a:ext cx="402336" cy="402336"/>
          </a:xfrm>
          <a:prstGeom prst="ellipse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874520" y="2706624"/>
            <a:ext cx="8915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43F60"/>
                </a:solidFill>
              </a:rPr>
              <a:t>Broader leakage taxonomy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group leakage, preprocessing leakage (scaler fit on full data), cross-validation contamination.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1188720" y="3877056"/>
            <a:ext cx="9784080" cy="11430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1353312" y="4041648"/>
            <a:ext cx="402336" cy="402336"/>
          </a:xfrm>
          <a:prstGeom prst="ellipse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20" y="4005072"/>
            <a:ext cx="8915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43F60"/>
                </a:solidFill>
              </a:rPr>
              <a:t>CI/CD integration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readiness score as a merge gate for data pipelines — the SDK already makes this a few lines of code.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1188720" y="5175504"/>
            <a:ext cx="9784080" cy="1143000"/>
          </a:xfrm>
          <a:prstGeom prst="roundRect">
            <a:avLst>
              <a:gd name="adj" fmla="val 12000"/>
            </a:avLst>
          </a:prstGeom>
          <a:solidFill>
            <a:srgbClr val="F3F6FB"/>
          </a:solidFill>
          <a:ln w="12700">
            <a:solidFill>
              <a:srgbClr val="D5D9E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1353312" y="5340096"/>
            <a:ext cx="402336" cy="402336"/>
          </a:xfrm>
          <a:prstGeom prst="ellipse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>
                <a:solidFill>
                  <a:srgbClr val="FFFFFF"/>
                </a:solidFill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20" y="5303520"/>
            <a:ext cx="8915400" cy="868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>
                <a:solidFill>
                  <a:srgbClr val="243F60"/>
                </a:solidFill>
              </a:rPr>
              <a:t>Learning thresholds from data</a:t>
            </a:r>
          </a:p>
          <a:p>
            <a:pPr algn="l">
              <a:spcBef>
                <a:spcPts val="300"/>
              </a:spcBef>
            </a:pPr>
            <a:r>
              <a:rPr sz="1250" b="0">
                <a:solidFill>
                  <a:srgbClr val="262626"/>
                </a:solidFill>
              </a:rPr>
              <a:t>replacing fixed flagging thresholds with calibrated, dataset-size-aware values.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43F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64592" cy="6858000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914400" y="1920240"/>
            <a:ext cx="103327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FFFFFF"/>
                </a:solidFill>
              </a:rPr>
              <a:t>Thank you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14400" y="3063240"/>
            <a:ext cx="1033272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2200" b="0">
                <a:solidFill>
                  <a:srgbClr val="B9C8DC"/>
                </a:solidFill>
              </a:rPr>
              <a:t>Questions?</a:t>
            </a:r>
          </a:p>
        </p:txBody>
      </p:sp>
      <p:sp>
        <p:nvSpPr>
          <p:cNvPr id="6" name="Rectangle 5"/>
          <p:cNvSpPr/>
          <p:nvPr/>
        </p:nvSpPr>
        <p:spPr>
          <a:xfrm>
            <a:off x="4636008" y="3886200"/>
            <a:ext cx="2926080" cy="32004"/>
          </a:xfrm>
          <a:prstGeom prst="rect">
            <a:avLst/>
          </a:prstGeom>
          <a:solidFill>
            <a:srgbClr val="FF8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14400" y="4206240"/>
            <a:ext cx="10332720" cy="1463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800" b="1">
                <a:solidFill>
                  <a:srgbClr val="FFFFFF"/>
                </a:solidFill>
              </a:rPr>
              <a:t>github.com/jaimecano12/ml-framework</a:t>
            </a:r>
          </a:p>
          <a:p>
            <a:pPr algn="ctr">
              <a:spcBef>
                <a:spcPts val="1000"/>
              </a:spcBef>
            </a:pPr>
            <a:r>
              <a:rPr sz="1600" b="0">
                <a:solidFill>
                  <a:srgbClr val="FFFFFF"/>
                </a:solidFill>
              </a:rPr>
              <a:t>Jaime Cano Moraño</a:t>
            </a:r>
          </a:p>
          <a:p>
            <a:pPr algn="ctr"/>
            <a:r>
              <a:rPr sz="1300" b="0">
                <a:solidFill>
                  <a:srgbClr val="B9C8DC"/>
                </a:solidFill>
              </a:rPr>
              <a:t>ETSIT-UPM  ·  Illinois Institute of Technology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