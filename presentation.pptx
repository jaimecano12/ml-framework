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adoption (%)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2E8B8B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55</c:v>
                </c:pt>
                <c:pt idx="2">
                  <c:v>78</c:v>
                </c:pt>
                <c:pt idx="3">
                  <c:v>88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Score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FF8000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dPt>
            <c:idx val="4"/>
            <c:spPr>
              <a:solidFill>
                <a:srgbClr val="2E8B8B"/>
              </a:solidFill>
            </c:spPr>
          </c:dPt>
          <c:cat>
            <c:strRef>
              <c:f>Sheet1!$A$2:$A$6</c:f>
              <c:strCache>
                <c:ptCount val="5"/>
                <c:pt idx="0">
                  <c:v>clean_dataset</c:v>
                </c:pt>
                <c:pt idx="1">
                  <c:v>dirty_dataset</c:v>
                </c:pt>
                <c:pt idx="2">
                  <c:v>leaky_dataset</c:v>
                </c:pt>
                <c:pt idx="3">
                  <c:v>Titanic</c:v>
                </c:pt>
                <c:pt idx="4">
                  <c:v>Pima Diabetes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98.8</c:v>
                </c:pt>
                <c:pt idx="1">
                  <c:v>91.2</c:v>
                </c:pt>
                <c:pt idx="2">
                  <c:v>71.6</c:v>
                </c:pt>
                <c:pt idx="3">
                  <c:v>80.6</c:v>
                </c:pt>
                <c:pt idx="4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Items satisfied (of 29)</c:v>
                </c:pt>
              </c:strCache>
            </c:strRef>
          </c:tx>
          <c:dPt>
            <c:idx val="0"/>
            <c:spPr>
              <a:solidFill>
                <a:srgbClr val="C8DCF0"/>
              </a:solidFill>
            </c:spPr>
          </c:dPt>
          <c:dPt>
            <c:idx val="1"/>
            <c:spPr>
              <a:solidFill>
                <a:srgbClr val="B4D2E6"/>
              </a:solidFill>
            </c:spPr>
          </c:dPt>
          <c:dPt>
            <c:idx val="2"/>
            <c:spPr>
              <a:solidFill>
                <a:srgbClr val="A0C3E1"/>
              </a:solidFill>
            </c:spPr>
          </c:dPt>
          <c:dPt>
            <c:idx val="3"/>
            <c:spPr>
              <a:solidFill>
                <a:srgbClr val="2E8B8B"/>
              </a:solidFill>
            </c:spPr>
          </c:dPt>
          <c:cat>
            <c:strRef>
              <c:f>Sheet1!$A$2:$A$5</c:f>
              <c:strCache>
                <c:ptCount val="4"/>
                <c:pt idx="0">
                  <c:v>Great Expectations</c:v>
                </c:pt>
                <c:pt idx="1">
                  <c:v>Deepchecks</c:v>
                </c:pt>
                <c:pt idx="2">
                  <c:v>ydata-profiling</c:v>
                </c:pt>
                <c:pt idx="3">
                  <c:v>ml-framework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8</c:v>
                </c:pt>
                <c:pt idx="3">
                  <c:v>29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A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4114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000"/>
                </a:solidFill>
              </a:rPr>
              <a:t>MASTER'S THESIS DEFENSE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An Automated Framework for Dataset Quality Assessment and Data Leakage Detection in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8DC"/>
                </a:solidFill>
              </a:rPr>
              <a:t>20 automated checks · unified leakage risk score · LLM semantic analysis · quantitative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Jaime Cano Moraño</a:t>
            </a:r>
          </a:p>
          <a:p>
            <a:pPr algn="l"/>
            <a:r>
              <a:rPr sz="1300" b="0">
                <a:solidFill>
                  <a:srgbClr val="B9C8DC"/>
                </a:solidFill>
              </a:rPr>
              <a:t>ETSIT — Universidad Politécnica de Madrid   ·   Illinois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25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472184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4416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Motivation &amp; Objectives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Why machine learning matters today, why data leakage matters, the gap in existing tools, and the four 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67711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05455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39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System &amp; Methodology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Architecture, the 20-check catalog, the unified Leakage Risk Score, LLM semantic analysis, readiness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5420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00982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8726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1071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Experimental Results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12 datasets, readiness scores, the Titanic case study, impact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57530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4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34253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571997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43981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Benchmark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Quantitative comparison against ydata-profiling, Deepchecks, and Great Expectations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608573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2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67524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605268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77252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Demo &amp; Conclusions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Live Streamlit demo, conclusions,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564184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Motivation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Why machine learning matters today  ·  its silent failure mode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A motivating example  ·  the gap in existing tools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Objectives and contributions of this thesis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Why Machine Learning Matters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88%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organizations use AI in at least one business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$1.2T+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projected global AI market size by 2030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$12.9M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average annual cost of poor data quality per organization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06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Adoption is accelerating fast --- but the systems delivering this value are only as good as the data behind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43F60"/>
                </a:solidFill>
              </a:rPr>
              <a:t>Share of organizations using AI in at least one business function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2560320" y="3429000"/>
          <a:ext cx="704088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9436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Sources: McKinsey, State of AI survey (2022–2025)  ·  Statista Market Insights (2025)  ·  Gartner data quality research.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Models Fail Because of Data, Not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Most ML effort targets </a:t>
            </a:r>
            <a:r>
              <a:rPr sz="1600" b="1">
                <a:solidFill>
                  <a:srgbClr val="262626"/>
                </a:solidFill>
              </a:rPr>
              <a:t>models</a:t>
            </a:r>
            <a:r>
              <a:rPr sz="1600" b="0">
                <a:solidFill>
                  <a:srgbClr val="262626"/>
                </a:solidFill>
              </a:rPr>
              <a:t>; most production failures trace back to </a:t>
            </a:r>
            <a:r>
              <a:rPr sz="1600" b="1">
                <a:solidFill>
                  <a:srgbClr val="262626"/>
                </a:solidFill>
              </a:rPr>
              <a:t>data</a:t>
            </a:r>
            <a:r>
              <a:rPr sz="1600" b="0">
                <a:solidFill>
                  <a:srgbClr val="262626"/>
                </a:solidFill>
              </a:rPr>
              <a:t>: missing values, duplicates, imbalance, drift … and, most insidiously, </a:t>
            </a:r>
            <a:r>
              <a:rPr sz="1600" b="1">
                <a:solidFill>
                  <a:srgbClr val="262626"/>
                </a:solidFill>
              </a:rPr>
              <a:t>data leakage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Leakage is dangerous because it is silent: the model looks </a:t>
            </a:r>
            <a:r>
              <a:rPr sz="1600" b="1">
                <a:solidFill>
                  <a:srgbClr val="262626"/>
                </a:solidFill>
              </a:rPr>
              <a:t>better</a:t>
            </a:r>
            <a:r>
              <a:rPr sz="1600" b="0">
                <a:solidFill>
                  <a:srgbClr val="262626"/>
                </a:solidFill>
              </a:rPr>
              <a:t>, not worse — inflated validation metrics that collapse in production.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Documented across medicine, finance, and academic reproducibility studies (Kaufman et al. 2012; Kapoor &amp; Narayanan).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3931920" cy="237744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100" b="1">
                <a:solidFill>
                  <a:srgbClr val="FF8000"/>
                </a:solidFill>
              </a:rPr>
              <a:t>DEFINITION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43F60"/>
                </a:solidFill>
              </a:rPr>
              <a:t>Data leakage</a:t>
            </a:r>
            <a:r>
              <a:rPr sz="1500" b="0">
                <a:solidFill>
                  <a:srgbClr val="243F60"/>
                </a:solidFill>
              </a:rPr>
              <a:t>: information about the target reaches the training features in a way that will </a:t>
            </a:r>
            <a:r>
              <a:rPr sz="1500" b="1">
                <a:solidFill>
                  <a:srgbClr val="243F60"/>
                </a:solidFill>
              </a:rPr>
              <a:t>not exist at prediction time</a:t>
            </a:r>
            <a:r>
              <a:rPr sz="1500" b="0">
                <a:solidFill>
                  <a:srgbClr val="243F60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Core question of this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262626"/>
                </a:solidFill>
              </a:rPr>
              <a:t>Can dataset quality assessment and leakage detection be </a:t>
            </a:r>
            <a:r>
              <a:rPr sz="1700" b="1">
                <a:solidFill>
                  <a:srgbClr val="262626"/>
                </a:solidFill>
              </a:rPr>
              <a:t>automated, quantified, and made actionable</a:t>
            </a:r>
            <a:r>
              <a:rPr sz="1700" b="0">
                <a:solidFill>
                  <a:srgbClr val="262626"/>
                </a:solidFill>
              </a:rPr>
              <a:t> in a single tool?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 Motivating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A logistic regression classifier trained on a dataset with an engineered leaky feature: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With leakage (as delivered)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4754880" cy="8686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1.000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286000"/>
            <a:ext cx="777240" cy="411480"/>
          </a:xfrm>
          <a:prstGeom prst="rightArrow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After removing leaky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2194560"/>
            <a:ext cx="4754880" cy="86868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0.952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33756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Δ = −0.048  of fake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That gap is the difference between a reproducible result and a broken one.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A human reviewer might catch this. </a:t>
            </a:r>
            <a:r>
              <a:rPr sz="1600" b="1">
                <a:solidFill>
                  <a:srgbClr val="262626"/>
                </a:solidFill>
              </a:rPr>
              <a:t>At scale, nobody reviews every feature of every dataset.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The framework presented today detects this automatically — and quantifies the damage.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Gap in Existing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ydata-profiling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Descriptive profiling, correlation reports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Great Expectations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Rule-based validation suites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1 / 4 (manual rule only)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Deepchecks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Train/test validation checks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</a:rPr>
              <a:t>•  Strong at profiling and rule-based validation — </a:t>
            </a:r>
            <a:r>
              <a:rPr sz="1600" b="1">
                <a:solidFill>
                  <a:srgbClr val="262626"/>
                </a:solidFill>
              </a:rPr>
              <a:t>but leakage detection is almost absent</a:t>
            </a:r>
            <a:r>
              <a:rPr sz="1600" b="0">
                <a:solidFill>
                  <a:srgbClr val="262626"/>
                </a:solidFill>
              </a:rPr>
              <a:t>, and none produces an interpretable readiness verdict or code-level fixes.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The framework </a:t>
            </a:r>
            <a:r>
              <a:rPr sz="1600" b="1">
                <a:solidFill>
                  <a:srgbClr val="262626"/>
                </a:solidFill>
              </a:rPr>
              <a:t>complements</a:t>
            </a:r>
            <a:r>
              <a:rPr sz="1600" b="0">
                <a:solidFill>
                  <a:srgbClr val="262626"/>
                </a:solidFill>
              </a:rPr>
              <a:t> these tools — it fills the leakage-detection and actionability gap rather than replacing general-purpose profiling.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Objectives and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unified, automated framework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20 deterministic checks across 5 dimensions (quality, leakage, features, sufficiency, drift) + impact analysis — via CLI, Python SDK, and web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 Leakage Risk Score L(f)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Correlation, mutual information, and single-feature performance inflation combined into one flaggable number per feature.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LLM-based semantic leakage analysis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leakage from feature meaning (e.g. discharge_date) where statistics alone are blind.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quantitative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Against three widely used tools on a 29-item checklist and four constructed leakage scenarios.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20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automated checks, 5 dimensions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38728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12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datasets (6 synthetic + 6 real)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8776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4/4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leakage scenarios detected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78824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325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unit tests passing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8824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System &amp;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Pipeline architecture and the three user interfaces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The 20-check catalog  ·  unified Leakage Risk Score with ablation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LLM semantic analysis  ·  from 20 checks to one readiness score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config.yaml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Dataset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874519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load_dataset()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quality checks (6)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leakage checks (5)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feature analysis (3)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sufficiency checks (4)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drift detection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impact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semantic leakage (optional)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recommendations + readiness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HTML report + JSON export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4058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2084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034540" y="2331719"/>
            <a:ext cx="40690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77740" y="2331719"/>
            <a:ext cx="13258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03620" y="2331719"/>
            <a:ext cx="14173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3620" y="2331719"/>
            <a:ext cx="41605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34540" y="3264408"/>
            <a:ext cx="66294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680460" y="3264408"/>
            <a:ext cx="10972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77940" y="3264408"/>
            <a:ext cx="114300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509760" y="3264408"/>
            <a:ext cx="7543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6140" y="4270248"/>
            <a:ext cx="708659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74919" y="4270248"/>
            <a:ext cx="102870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852159" y="4270248"/>
            <a:ext cx="294894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35039" y="5038344"/>
            <a:ext cx="640081" cy="0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One YAML config + one CSV in  →  20 checks in 5 dimensions  →  recommendations, readiness score, and reports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Three Interfaces,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99032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CLI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main.py — batch runs, CI/CD friendly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96312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15184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Python SDK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DatasetChecker — notebooks and pipelines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31336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Streamlit web app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seven-tab dashboard for non-programmers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Plus a @register_check </a:t>
            </a:r>
            <a:r>
              <a:rPr sz="1300" b="1">
                <a:solidFill>
                  <a:srgbClr val="555555"/>
                </a:solidFill>
              </a:rPr>
              <a:t>plugin API</a:t>
            </a:r>
            <a:r>
              <a:rPr sz="1300" b="0">
                <a:solidFill>
                  <a:srgbClr val="555555"/>
                </a:solidFill>
              </a:rPr>
              <a:t> for custom, domain-specific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280160"/>
            <a:ext cx="5577840" cy="3566160"/>
          </a:xfrm>
          <a:prstGeom prst="rect">
            <a:avLst/>
          </a:prstGeom>
          <a:solidFill>
            <a:srgbClr val="F7F7F7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82880" tIns="109728"/>
          <a:lstStyle/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from src.checker import DatasetChecker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 = DatasetChecker(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"configs/config.yaml")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report = checker.run(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"data/titanic.csv",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target_col="survived")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print(checker.score, checker.grade)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checker.save_report("reports/")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54864" cy="356616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20-Check Catalog (5 Dimensions)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88720"/>
          <a:ext cx="105155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795527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Quality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missing values, duplicates, outliers, class imbalance, constant features, low variance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Leakage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target leakage, train/test overlap, temporal, ID columns, </a:t>
                      </a:r>
                      <a:r>
                        <a:rPr sz="1400" b="1">
                          <a:solidFill>
                            <a:srgbClr val="262626"/>
                          </a:solidFill>
                        </a:rPr>
                        <a:t>unified risk score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Features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correlation structure, MI relevance, distribution shape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Sufficiency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sample size, n/p ratio, class support, power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Drift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KS test, PSI (covariate + label)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Each check returns a structured CheckResult (pass/fail, severity, affected columns).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Failed checks map to </a:t>
            </a:r>
            <a:r>
              <a:rPr sz="1600" b="1">
                <a:solidFill>
                  <a:srgbClr val="262626"/>
                </a:solidFill>
              </a:rPr>
              <a:t>20 recommendation handlers</a:t>
            </a:r>
            <a:r>
              <a:rPr sz="1600" b="0">
                <a:solidFill>
                  <a:srgbClr val="262626"/>
                </a:solidFill>
              </a:rPr>
              <a:t> producing code-level fixes.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Optional 21st check: LLM semantic leakage (disabled by default).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Unified Leakage Risk Score  L(f)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188720"/>
            <a:ext cx="777240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243F60"/>
                </a:solidFill>
              </a:rPr>
              <a:t>L(f)  =  0.35 · ρ(f)  +  0.35 · Ĩ(f; y)  +  0.30 · π(f)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ρ(f) — correlation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Pearson |r| (numeric) or Cramér's V (categorical), in [0, 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Ĩ(f; y) — mutual information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normalized by the maximum MI across features, in [0, 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π(f) — performance inflation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(A_f − A_base) / (1 − A_base): how close does this single feature get a model to perfect accuracy?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526280"/>
            <a:ext cx="77724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Flagging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4892040"/>
            <a:ext cx="7772400" cy="6858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262626"/>
                </a:solidFill>
              </a:rPr>
              <a:t>L(f) ≥ 0.7  ⇒  </a:t>
            </a:r>
            <a:r>
              <a:rPr sz="1800" b="1">
                <a:solidFill>
                  <a:srgbClr val="262626"/>
                </a:solidFill>
              </a:rPr>
              <a:t>warning</a:t>
            </a:r>
            <a:r>
              <a:rPr sz="1800" b="0">
                <a:solidFill>
                  <a:srgbClr val="262626"/>
                </a:solidFill>
              </a:rPr>
              <a:t>             L(f) ≥ 0.9  ⇒  </a:t>
            </a:r>
            <a:r>
              <a:rPr sz="1800" b="1">
                <a:solidFill>
                  <a:srgbClr val="262626"/>
                </a:solidFill>
              </a:rPr>
              <a:t>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Single statistics miss real leaks; three complementary signals are far more robust.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Are the Weights Arbitrary? —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Weight-sensitivity analysis on known leaky features (Titanic):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1645920"/>
          <a:ext cx="92354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0116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Weight scheme  (ρ / Ĩ / π)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L(name)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L(boat)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Default (0.35 / 0.35 / 0.30)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0.74</a:t>
                      </a:r>
                      <a:r>
                        <a:rPr sz="1500" b="0">
                          <a:solidFill>
                            <a:srgbClr val="262626"/>
                          </a:solidFill>
                        </a:rPr>
                        <a:t>  ✓ flagged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Correlation-heavy (0.50 / 0.25 / 0.25)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0.662  ✗ below threshold!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MI- or π-weighted schemes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flagged  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boat (lifeboat number) is a true leak, but its raw correlation is diluted by missing values — an over-weighted correlation term produces a </a:t>
            </a:r>
            <a:r>
              <a:rPr sz="1600" b="1">
                <a:solidFill>
                  <a:srgbClr val="262626"/>
                </a:solidFill>
              </a:rPr>
              <a:t>false negative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Every scheme that gives reasonable weight to MI or performance inflation catches it.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Empirical evidence that the default weights are </a:t>
            </a:r>
            <a:r>
              <a:rPr sz="1600" b="1">
                <a:solidFill>
                  <a:srgbClr val="262626"/>
                </a:solidFill>
              </a:rPr>
              <a:t>defensible, not decorative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Leakage Analysis with an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Why statistics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A feature named discharge_date in an ICU mortality dataset is leaky </a:t>
            </a:r>
            <a:r>
              <a:rPr sz="1500" b="1">
                <a:solidFill>
                  <a:srgbClr val="262626"/>
                </a:solidFill>
              </a:rPr>
              <a:t>by meaning</a:t>
            </a:r>
            <a:r>
              <a:rPr sz="1500" b="0">
                <a:solidFill>
                  <a:srgbClr val="262626"/>
                </a:solidFill>
              </a:rPr>
              <a:t>: it may show weak correlation, yet it cannot exist at prediction time.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No statistical test reads feature </a:t>
            </a:r>
            <a:r>
              <a:rPr sz="1500" b="1">
                <a:solidFill>
                  <a:srgbClr val="262626"/>
                </a:solidFill>
              </a:rPr>
              <a:t>names</a:t>
            </a:r>
            <a:r>
              <a:rPr sz="1500" b="0">
                <a:solidFill>
                  <a:srgbClr val="262626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Feature names + sample values + dataset description → </a:t>
            </a:r>
            <a:r>
              <a:rPr sz="1500" b="1">
                <a:solidFill>
                  <a:srgbClr val="262626"/>
                </a:solidFill>
              </a:rPr>
              <a:t>GPT-4o-mini</a:t>
            </a:r>
            <a:r>
              <a:rPr sz="1500" b="0">
                <a:solidFill>
                  <a:srgbClr val="262626"/>
                </a:solidFill>
              </a:rPr>
              <a:t> (Azure OpenAI).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Degrades gracefully without credentials; disabled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28016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Per-feature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645920"/>
            <a:ext cx="4754880" cy="16002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risk_level:   none / low / medium / high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leakage_type:   temporal / proxy / post-hoc / indirect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+ natural-language rationale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0% → F1 0.963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naming-based leakage detection, 30-feature labelled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475488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Module: Evaluation and an Honest Caveat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62626"/>
                </a:solidFill>
              </a:rPr>
              <a:t>•  Manually labelled </a:t>
            </a:r>
            <a:r>
              <a:rPr sz="1700" b="1">
                <a:solidFill>
                  <a:srgbClr val="262626"/>
                </a:solidFill>
              </a:rPr>
              <a:t>30-feature benchmark</a:t>
            </a:r>
            <a:r>
              <a:rPr sz="1700" b="0">
                <a:solidFill>
                  <a:srgbClr val="262626"/>
                </a:solidFill>
              </a:rPr>
              <a:t> across temporal, proxy, post-hoc, and indirect leakage types (data/semantic_benchmark.json).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9659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1.00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Precision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965960"/>
            <a:ext cx="237744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92040" y="19659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0.93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Recall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92040" y="1965960"/>
            <a:ext cx="237744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9659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0.963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965960"/>
            <a:ext cx="237744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52044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Transparency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0881360" cy="13258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262626"/>
                </a:solidFill>
              </a:rPr>
              <a:t>These figures validate the </a:t>
            </a:r>
            <a:r>
              <a:rPr sz="1500" b="1">
                <a:solidFill>
                  <a:srgbClr val="262626"/>
                </a:solidFill>
              </a:rPr>
              <a:t>evaluation harness</a:t>
            </a:r>
            <a:r>
              <a:rPr sz="1500" b="0">
                <a:solidFill>
                  <a:srgbClr val="262626"/>
                </a:solidFill>
              </a:rPr>
              <a:t> using a deterministic mock analyzer — not the live GPT-4o-mini model (Azure credentials were unavailable at evaluation time). A live-model evaluation is the </a:t>
            </a:r>
            <a:r>
              <a:rPr sz="1500" b="1">
                <a:solidFill>
                  <a:srgbClr val="262626"/>
                </a:solidFill>
              </a:rPr>
              <a:t>top-priority item of future work</a:t>
            </a:r>
            <a:r>
              <a:rPr sz="1500" b="0">
                <a:solidFill>
                  <a:srgbClr val="262626"/>
                </a:solidFill>
              </a:rPr>
              <a:t>, and this is stated explicitly in the thesis.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The architecture, prompt design, structured output parsing, and graceful degradation are fully implemented and tested (33 unit tests for Phase 16 modules).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From 20 Checks to One Number: the Readiness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40"/>
            <a:ext cx="941832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243F60"/>
                </a:solidFill>
              </a:rPr>
              <a:t>overall  =  0.25·S_quality  +  0.35·S_leakage  +  0.25·S_features  +  0.15·S_sufficiency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Per dimension: start at 100, subtract </a:t>
            </a:r>
            <a:r>
              <a:rPr sz="1700" b="1">
                <a:solidFill>
                  <a:srgbClr val="262626"/>
                </a:solidFill>
              </a:rPr>
              <a:t>15 per error</a:t>
            </a:r>
            <a:r>
              <a:rPr sz="1700" b="0">
                <a:solidFill>
                  <a:srgbClr val="262626"/>
                </a:solidFill>
              </a:rPr>
              <a:t>, </a:t>
            </a:r>
            <a:r>
              <a:rPr sz="1700" b="1">
                <a:solidFill>
                  <a:srgbClr val="262626"/>
                </a:solidFill>
              </a:rPr>
              <a:t>5 per warning</a:t>
            </a:r>
            <a:r>
              <a:rPr sz="17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</a:t>
            </a:r>
            <a:r>
              <a:rPr sz="1700" b="1">
                <a:solidFill>
                  <a:srgbClr val="262626"/>
                </a:solidFill>
              </a:rPr>
              <a:t>Leakage carries the largest weight (0.35)</a:t>
            </a:r>
            <a:r>
              <a:rPr sz="1700" b="0">
                <a:solidFill>
                  <a:srgbClr val="262626"/>
                </a:solidFill>
              </a:rPr>
              <a:t>: it is the only failure mode that silently inflates results instead of visibly degrading them.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All weights and penalties are </a:t>
            </a:r>
            <a:r>
              <a:rPr sz="1700" b="1">
                <a:solidFill>
                  <a:srgbClr val="262626"/>
                </a:solidFill>
              </a:rPr>
              <a:t>configurable</a:t>
            </a:r>
            <a:r>
              <a:rPr sz="1700" b="0">
                <a:solidFill>
                  <a:srgbClr val="262626"/>
                </a:solidFill>
              </a:rPr>
              <a:t> in config.yaml.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6ECD6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A ≥ 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7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DEEEE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B ≥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3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E9CC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C ≥ 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59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D9A8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D ≥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6D0D0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F &lt;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Experimental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Twelve datasets: six synthetic with planted defects, six real-world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Readiness scores  ·  the Titanic case study  ·  quantifying leakage damage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Experimental Setup: 12 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synthetic — controlled ground truth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clean_dataset — control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dirty_dataset — quality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leaky_dataset — leakage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proxy_leakage — graded noisy proxies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temporal_leakage_ext — future feature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multitype_leakage — ICU: proxy + temporal +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real-world — OpenML / UCI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Titanic (1,309 rows)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Pima Diabetes (768)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Adult Census (48,842)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German Credit (1,000)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Heart Disease (303)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Wine Quality (1,599)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Synthetic sets verify the framework </a:t>
            </a:r>
            <a:r>
              <a:rPr sz="1600" b="1">
                <a:solidFill>
                  <a:srgbClr val="262626"/>
                </a:solidFill>
              </a:rPr>
              <a:t>detects what we planted</a:t>
            </a:r>
            <a:r>
              <a:rPr sz="1600" b="0">
                <a:solidFill>
                  <a:srgbClr val="262626"/>
                </a:solidFill>
              </a:rPr>
              <a:t>; real sets verify it </a:t>
            </a:r>
            <a:r>
              <a:rPr sz="1600" b="1">
                <a:solidFill>
                  <a:srgbClr val="262626"/>
                </a:solidFill>
              </a:rPr>
              <a:t>finds surprises in the wild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Full pipeline per dataset: 20 checks + impact analysis (23 results).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Readiness Scores Discriminate as Designed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143000"/>
          <a:ext cx="10149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52120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8B8B"/>
                </a:solidFill>
              </a:rPr>
              <a:t>■ Grade A (≥ 85)        </a:t>
            </a:r>
            <a:r>
              <a:rPr sz="1500" b="1">
                <a:solidFill>
                  <a:srgbClr val="FF8000"/>
                </a:solidFill>
              </a:rPr>
              <a:t>■ Grade B (≥ 70)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Only the datasets with </a:t>
            </a:r>
            <a:r>
              <a:rPr sz="1200" b="1">
                <a:solidFill>
                  <a:srgbClr val="555555"/>
                </a:solidFill>
              </a:rPr>
              <a:t>confirmed target leakage</a:t>
            </a:r>
            <a:r>
              <a:rPr sz="1200" b="0">
                <a:solidFill>
                  <a:srgbClr val="555555"/>
                </a:solidFill>
              </a:rPr>
              <a:t> drop to grade B — quality noise alone (dirty) stays A.  UCI suite: Adult 92.4, German Credit 97.5, Heart Disease 96.8, Wine Quality 88.6 (all A).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Case Study: Titanic — Real Leaks in a Classic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1691640"/>
          </a:xfrm>
          <a:prstGeom prst="rect">
            <a:avLst/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name</a:t>
            </a:r>
            <a:r>
              <a:rPr sz="1300">
                <a:solidFill>
                  <a:srgbClr val="262626"/>
                </a:solidFill>
              </a:rPr>
              <a:t>    Cramér's V = 0.999 with survived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target leakage — ERROR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Unique names act as row identifiers.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59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08959"/>
            <a:ext cx="64008" cy="169164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7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boat</a:t>
            </a:r>
            <a:r>
              <a:rPr sz="1300">
                <a:solidFill>
                  <a:srgbClr val="262626"/>
                </a:solidFill>
              </a:rPr>
              <a:t>    Unified risk score L = 0.74</a:t>
            </a:r>
          </a:p>
          <a:p>
            <a:pPr algn="l"/>
            <a:r>
              <a:rPr sz="1300" b="1">
                <a:solidFill>
                  <a:srgbClr val="FF8000"/>
                </a:solidFill>
              </a:rPr>
              <a:t>post-hoc leakage — WARNING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Lifeboat number is assigned after the outcome: knowing it literally encodes survival.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</a:rPr>
              <a:t>•  Neither is caught by any of the three baseline tools.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234440"/>
            <a:ext cx="42976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00200"/>
            <a:ext cx="4297680" cy="20116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Titanic is used in thousands of tutorials and courses. Models “achieving” high accuracy with boat included are </a:t>
            </a:r>
            <a:r>
              <a:rPr sz="1350" b="1">
                <a:solidFill>
                  <a:srgbClr val="262626"/>
                </a:solidFill>
              </a:rPr>
              <a:t>textbook post-hoc leakage</a:t>
            </a:r>
            <a:r>
              <a:rPr sz="1350" b="0">
                <a:solidFill>
                  <a:srgbClr val="262626"/>
                </a:solidFill>
              </a:rPr>
              <a:t> — and it takes an automated tool 30 seconds to prove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931920"/>
            <a:ext cx="42976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80.6 / B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Titanic readiness (14/22 checks passed)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931920"/>
            <a:ext cx="42976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Additional case studies (thesis §5.5): Adult Census (missing values, skew), German Credit (near-zero-MI features), Wine Quality (15% duplicates → error).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Quantifying the Damage: Impact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The pipeline retrains the same model with and without the flagged features (cross-validated):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377440" y="1691640"/>
          <a:ext cx="740664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1828800"/>
                <a:gridCol w="18288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Dataset (LR)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Baseline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Cleaned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</a:rPr>
                        <a:t>leaky_dataset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0.952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62626"/>
                          </a:solidFill>
                        </a:rPr>
                        <a:t>−0.048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546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 </a:t>
            </a:r>
            <a:r>
              <a:rPr sz="1700" b="1">
                <a:solidFill>
                  <a:srgbClr val="262626"/>
                </a:solidFill>
              </a:rPr>
              <a:t>positive</a:t>
            </a:r>
            <a:r>
              <a:rPr sz="1700" b="0">
                <a:solidFill>
                  <a:srgbClr val="262626"/>
                </a:solidFill>
              </a:rPr>
              <a:t> baseline−cleaned gap is direct, quantified evidence of leakage — not just a statistical suspicion.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This closes the loop on the motivating example: the framework </a:t>
            </a:r>
            <a:r>
              <a:rPr sz="1700" b="1">
                <a:solidFill>
                  <a:srgbClr val="262626"/>
                </a:solidFill>
              </a:rPr>
              <a:t>finds</a:t>
            </a:r>
            <a:r>
              <a:rPr sz="1700" b="0">
                <a:solidFill>
                  <a:srgbClr val="262626"/>
                </a:solidFill>
              </a:rPr>
              <a:t> the leak, </a:t>
            </a:r>
            <a:r>
              <a:rPr sz="1700" b="1">
                <a:solidFill>
                  <a:srgbClr val="262626"/>
                </a:solidFill>
              </a:rPr>
              <a:t>explains</a:t>
            </a:r>
            <a:r>
              <a:rPr sz="1700" b="0">
                <a:solidFill>
                  <a:srgbClr val="262626"/>
                </a:solidFill>
              </a:rPr>
              <a:t> it, and </a:t>
            </a:r>
            <a:r>
              <a:rPr sz="1700" b="1">
                <a:solidFill>
                  <a:srgbClr val="262626"/>
                </a:solidFill>
              </a:rPr>
              <a:t>measures</a:t>
            </a:r>
            <a:r>
              <a:rPr sz="1700" b="0">
                <a:solidFill>
                  <a:srgbClr val="262626"/>
                </a:solidFill>
              </a:rPr>
              <a:t> how much of the reported performance was fake.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Recommendations then emit the exact pandas code to drop or re-derive the offending columns.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Feature coverage on a 29-item cross-tool checklist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Leakage detection on four constructed scenarios — the decisive result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Feature Coverage vs. Three Established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280160" y="1143000"/>
          <a:ext cx="96012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The 29-item checklist is a </a:t>
            </a:r>
            <a:r>
              <a:rPr sz="1450" b="1">
                <a:solidFill>
                  <a:srgbClr val="262626"/>
                </a:solidFill>
              </a:rPr>
              <a:t>cross-tool comparison instrument</a:t>
            </a:r>
            <a:r>
              <a:rPr sz="1450" b="0">
                <a:solidFill>
                  <a:srgbClr val="262626"/>
                </a:solidFill>
              </a:rPr>
              <a:t> (more granular than the 20-check pipeline; the two numbers measure different things).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</a:t>
            </a:r>
            <a:r>
              <a:rPr sz="1450" b="1">
                <a:solidFill>
                  <a:srgbClr val="262626"/>
                </a:solidFill>
              </a:rPr>
              <a:t>Fairness note</a:t>
            </a:r>
            <a:r>
              <a:rPr sz="1450" b="0">
                <a:solidFill>
                  <a:srgbClr val="262626"/>
                </a:solidFill>
              </a:rPr>
              <a:t>: the baselines target profiling/validation, not leakage — the comparison measures scope, and the checklist was published with the benchmark code for scrutiny.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Leakage Detection — the Decisive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Four constructed leakage scenarios, each tool run with default configuration: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45920"/>
          <a:ext cx="97840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82880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ml-framework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ydata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Deepchecks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Great Exp.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Perfect proxy (r = 1.0)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Noisy proxy (r ≈ 0.97)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ID column (100% cardinality)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Indirect computed feature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Detection 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4/4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Great Expectations' single detection required a </a:t>
            </a:r>
            <a:r>
              <a:rPr sz="1700" b="1">
                <a:solidFill>
                  <a:srgbClr val="262626"/>
                </a:solidFill>
              </a:rPr>
              <a:t>manually authored rule</a:t>
            </a:r>
            <a:r>
              <a:rPr sz="1700" b="0">
                <a:solidFill>
                  <a:srgbClr val="262626"/>
                </a:solidFill>
              </a:rPr>
              <a:t>; ml-framework's four are fully automatic.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This is precisely the gap the thesis set out to fill.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Demo &amp; 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Live Streamlit demo on the Titanic dataset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Conclusions  ·  future research directions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Live Demo: Streamlit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What you will see (titanic.csv):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05356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Upload the CSV, select survived as target.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496312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0028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Pipeline runs live: 20 checks + impact analysis.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00984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470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Readiness score </a:t>
            </a:r>
            <a:r>
              <a:rPr sz="1450" b="1">
                <a:solidFill>
                  <a:srgbClr val="262626"/>
                </a:solidFill>
              </a:rPr>
              <a:t>80.6 / B</a:t>
            </a:r>
            <a:r>
              <a:rPr sz="1450" b="0">
                <a:solidFill>
                  <a:srgbClr val="262626"/>
                </a:solidFill>
              </a:rPr>
              <a:t> with per-dimension breakdown.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05656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19372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name and boat flagged with explanations and suggested fixes.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10328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4044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Downloadable HTML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1280160"/>
            <a:ext cx="45720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Run it yourself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645920"/>
            <a:ext cx="4572000" cy="6400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streamlit run 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Seven tabs: overview, quality, leakage, features, sufficiency, impact, readiness summary.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555555"/>
                </a:solidFill>
              </a:rPr>
              <a:t>(Backup: pre-recorded capture and generated HTML report, in case of demo issues.)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Automation is feasible end-to-end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One config + one CSV → scored, explained, actionable verdict on dataset quality and 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The unified L(f) score works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leaks no single statistic catches, with ablation-backed weights — 4/4 benchmark scenarios vs. 0–1/4 for existing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LLMs extend detection to semantics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Leakage invisible to statistics becomes detectable; evaluation harness built and validated, live-model run queued.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Real issues found in classic datasets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Titanic boat/name and Wine Quality duplicates — previously unflagged by standard tooling.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17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development phases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8620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source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8620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325/325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4108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user interfaces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280160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3312" y="144475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08176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Live LLM evaluation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of the semantic module against the 30-feature benchmark — top priority; the harness is ready, only credentials are missing.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578608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53312" y="2743200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706624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Broader leakage taxonomy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group leakage, preprocessing leakage (scaler fit on full data), cross-validation contamination.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77056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4041648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4005072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CI/CD integration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readiness score as a merge gate for data pipelines — the SDK already makes this a few lines of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5175504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53312" y="5340096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303520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Learning thresholds from data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replacing fixed flagging thresholds with calibrated, dataset-size-aware values.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9C8DC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6008" y="388620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github.com/jaimecano12/ml-framework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</a:rPr>
              <a:t>Jaime Cano Moraño</a:t>
            </a:r>
          </a:p>
          <a:p>
            <a:pPr algn="ctr"/>
            <a:r>
              <a:rPr sz="1300" b="0">
                <a:solidFill>
                  <a:srgbClr val="B9C8DC"/>
                </a:solidFill>
              </a:rPr>
              <a:t>ETSIT-UPM  ·  Illinois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