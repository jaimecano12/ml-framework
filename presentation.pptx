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adoption (%)</c:v>
                </c:pt>
              </c:strCache>
            </c:strRef>
          </c:tx>
          <c:dPt>
            <c:idx val="0"/>
            <c:spPr>
              <a:solidFill>
                <a:srgbClr val="2E8B8B"/>
              </a:solidFill>
            </c:spPr>
          </c:dPt>
          <c:dPt>
            <c:idx val="1"/>
            <c:spPr>
              <a:solidFill>
                <a:srgbClr val="2E8B8B"/>
              </a:solidFill>
            </c:spPr>
          </c:dPt>
          <c:dPt>
            <c:idx val="2"/>
            <c:spPr>
              <a:solidFill>
                <a:srgbClr val="2E8B8B"/>
              </a:solidFill>
            </c:spPr>
          </c:dPt>
          <c:dPt>
            <c:idx val="3"/>
            <c:spPr>
              <a:solidFill>
                <a:srgbClr val="FF8000"/>
              </a:solidFill>
            </c:spPr>
          </c:dPt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55</c:v>
                </c:pt>
                <c:pt idx="2">
                  <c:v>78</c:v>
                </c:pt>
                <c:pt idx="3">
                  <c:v>88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 Score</c:v>
                </c:pt>
              </c:strCache>
            </c:strRef>
          </c:tx>
          <c:dPt>
            <c:idx val="0"/>
            <c:spPr>
              <a:solidFill>
                <a:srgbClr val="2E8B8B"/>
              </a:solidFill>
            </c:spPr>
          </c:dPt>
          <c:dPt>
            <c:idx val="1"/>
            <c:spPr>
              <a:solidFill>
                <a:srgbClr val="2E8B8B"/>
              </a:solidFill>
            </c:spPr>
          </c:dPt>
          <c:dPt>
            <c:idx val="2"/>
            <c:spPr>
              <a:solidFill>
                <a:srgbClr val="FF8000"/>
              </a:solidFill>
            </c:spPr>
          </c:dPt>
          <c:dPt>
            <c:idx val="3"/>
            <c:spPr>
              <a:solidFill>
                <a:srgbClr val="FF8000"/>
              </a:solidFill>
            </c:spPr>
          </c:dPt>
          <c:dPt>
            <c:idx val="4"/>
            <c:spPr>
              <a:solidFill>
                <a:srgbClr val="2E8B8B"/>
              </a:solidFill>
            </c:spPr>
          </c:dPt>
          <c:cat>
            <c:strRef>
              <c:f>Sheet1!$A$2:$A$6</c:f>
              <c:strCache>
                <c:ptCount val="5"/>
                <c:pt idx="0">
                  <c:v>clean_dataset</c:v>
                </c:pt>
                <c:pt idx="1">
                  <c:v>dirty_dataset</c:v>
                </c:pt>
                <c:pt idx="2">
                  <c:v>leaky_dataset</c:v>
                </c:pt>
                <c:pt idx="3">
                  <c:v>Titanic</c:v>
                </c:pt>
                <c:pt idx="4">
                  <c:v>Pima Diabetes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98.8</c:v>
                </c:pt>
                <c:pt idx="1">
                  <c:v>91.2</c:v>
                </c:pt>
                <c:pt idx="2">
                  <c:v>71.6</c:v>
                </c:pt>
                <c:pt idx="3">
                  <c:v>80.6</c:v>
                </c:pt>
                <c:pt idx="4">
                  <c:v>96.2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 satisfied (of 29)</c:v>
                </c:pt>
              </c:strCache>
            </c:strRef>
          </c:tx>
          <c:dPt>
            <c:idx val="0"/>
            <c:spPr>
              <a:solidFill>
                <a:srgbClr val="C8DCF0"/>
              </a:solidFill>
            </c:spPr>
          </c:dPt>
          <c:dPt>
            <c:idx val="1"/>
            <c:spPr>
              <a:solidFill>
                <a:srgbClr val="B4D2E6"/>
              </a:solidFill>
            </c:spPr>
          </c:dPt>
          <c:dPt>
            <c:idx val="2"/>
            <c:spPr>
              <a:solidFill>
                <a:srgbClr val="A0C3E1"/>
              </a:solidFill>
            </c:spPr>
          </c:dPt>
          <c:dPt>
            <c:idx val="3"/>
            <c:spPr>
              <a:solidFill>
                <a:srgbClr val="2E8B8B"/>
              </a:solidFill>
            </c:spPr>
          </c:dPt>
          <c:cat>
            <c:strRef>
              <c:f>Sheet1!$A$2:$A$5</c:f>
              <c:strCache>
                <c:ptCount val="4"/>
                <c:pt idx="0">
                  <c:v>Great Expectations</c:v>
                </c:pt>
                <c:pt idx="1">
                  <c:v>Deepchecks</c:v>
                </c:pt>
                <c:pt idx="2">
                  <c:v>ydata-profiling</c:v>
                </c:pt>
                <c:pt idx="3">
                  <c:v>ml-framework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11</c:v>
                </c:pt>
                <c:pt idx="2">
                  <c:v>8</c:v>
                </c:pt>
                <c:pt idx="3">
                  <c:v>29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A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4114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000"/>
                </a:solidFill>
              </a:rPr>
              <a:t>MASTER'S THESIS DEFENSE  ·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An Automated Framework for Dataset Quality Assessment and Data Leakage Detection in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703320"/>
            <a:ext cx="2926080" cy="32004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C8DC"/>
                </a:solidFill>
              </a:rPr>
              <a:t>20 automated checks · unified leakage risk score · LLM semantic analysis · quantitative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Jaime Cano Moraño</a:t>
            </a:r>
          </a:p>
          <a:p>
            <a:pPr algn="l"/>
            <a:r>
              <a:rPr sz="1300" b="0">
                <a:solidFill>
                  <a:srgbClr val="B9C8DC"/>
                </a:solidFill>
              </a:rPr>
              <a:t>ETSIT — Universidad Politécnica de Madrid   ·   Illinois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25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472184"/>
            <a:ext cx="438912" cy="438912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4416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Motivation &amp; Objectives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Why machine learning matters today, why data leakage matters, the gap in existing tools, and the four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508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8000"/>
                </a:solidFill>
              </a:rPr>
              <a:t>≈ 7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67711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505455"/>
            <a:ext cx="438912" cy="438912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77439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System &amp; Methodology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Architecture, the 20-check catalog, the unified Leakage Risk Score, LLM semantic analysis, readiness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54203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8000"/>
                </a:solidFill>
              </a:rPr>
              <a:t>≈ 7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00982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538726"/>
            <a:ext cx="438912" cy="438912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1071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Experimental Results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12 datasets, readiness scores, the Titanic case study, impact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57530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8000"/>
                </a:solidFill>
              </a:rPr>
              <a:t>≈ 4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34253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571997"/>
            <a:ext cx="438912" cy="438912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43981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Benchmark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Quantitative comparison against ydata-profiling, Deepchecks, and Great Expectations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60857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8000"/>
                </a:solidFill>
              </a:rPr>
              <a:t>≈ 2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67524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5605268"/>
            <a:ext cx="438912" cy="438912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77252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Demo &amp; Conclusions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Live Streamlit demo, conclusions, 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56418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8000"/>
                </a:solidFill>
              </a:rPr>
              <a:t>≈ 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>
                <a:solidFill>
                  <a:srgbClr val="FF8000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Motivation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2926080" cy="32004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Why machine learning matters today  ·  its silent failure mode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A motivating example  ·  the gap in existing tools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Objectives and contributions of this thesis</a:t>
            </a:r>
          </a:p>
        </p:txBody>
      </p:sp>
      <p:sp>
        <p:nvSpPr>
          <p:cNvPr id="8" name="Oval 7"/>
          <p:cNvSpPr/>
          <p:nvPr/>
        </p:nvSpPr>
        <p:spPr>
          <a:xfrm>
            <a:off x="9539935" y="594360"/>
            <a:ext cx="201168" cy="20116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23983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08031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2079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76127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MOTIVATION &amp; OBJECTIVES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Why Machine Learning Matters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88%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organizations use AI in at least one business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342900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14300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$1.2T+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projected global AI market size by 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43000"/>
            <a:ext cx="342900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0" y="114300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~40%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of a data scientist's time spent cleaning and preparing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143000"/>
            <a:ext cx="342900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Adoption is accelerating fast --- but the systems delivering this value are only as good as the data behind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632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3F60"/>
                </a:solidFill>
              </a:rPr>
              <a:t>Share of organizations using AI in at least one business function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560320" y="3429000"/>
          <a:ext cx="704088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94360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Sources: McKinsey, State of AI survey (2022–2025)  ·  Statista Market Insights (2025)  ·  Anaconda, State of Data Science survey.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MOTIVATION &amp; OBJECTIVES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Models Fail Because of Data, Not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6675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</a:rPr>
              <a:t>•  Most ML effort targets </a:t>
            </a:r>
            <a:r>
              <a:rPr sz="1600" b="1">
                <a:solidFill>
                  <a:srgbClr val="262626"/>
                </a:solidFill>
              </a:rPr>
              <a:t>models</a:t>
            </a:r>
            <a:r>
              <a:rPr sz="1600" b="0">
                <a:solidFill>
                  <a:srgbClr val="262626"/>
                </a:solidFill>
              </a:rPr>
              <a:t>; most production failures trace back to </a:t>
            </a:r>
            <a:r>
              <a:rPr sz="1600" b="1">
                <a:solidFill>
                  <a:srgbClr val="262626"/>
                </a:solidFill>
              </a:rPr>
              <a:t>data</a:t>
            </a:r>
            <a:r>
              <a:rPr sz="1600" b="0">
                <a:solidFill>
                  <a:srgbClr val="262626"/>
                </a:solidFill>
              </a:rPr>
              <a:t>: missing values, duplicates, imbalance, drift … and, most insidiously, </a:t>
            </a:r>
            <a:r>
              <a:rPr sz="1600" b="1">
                <a:solidFill>
                  <a:srgbClr val="262626"/>
                </a:solidFill>
              </a:rPr>
              <a:t>data leakage</a:t>
            </a:r>
            <a:r>
              <a:rPr sz="1600" b="0">
                <a:solidFill>
                  <a:srgbClr val="262626"/>
                </a:solidFill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</a:rPr>
              <a:t>•  Leakage is dangerous because it is silent: the model looks </a:t>
            </a:r>
            <a:r>
              <a:rPr sz="1600" b="1">
                <a:solidFill>
                  <a:srgbClr val="262626"/>
                </a:solidFill>
              </a:rPr>
              <a:t>better</a:t>
            </a:r>
            <a:r>
              <a:rPr sz="1600" b="0">
                <a:solidFill>
                  <a:srgbClr val="262626"/>
                </a:solidFill>
              </a:rPr>
              <a:t>, not worse — inflated validation metrics that collapse in production.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</a:rPr>
              <a:t>•  Documented across medicine, finance, and academic reproducibility studies (Kaufman et al. 2012; Kapoor &amp; Narayanan).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280160"/>
            <a:ext cx="3931920" cy="237744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100" b="1">
                <a:solidFill>
                  <a:srgbClr val="FF8000"/>
                </a:solidFill>
              </a:rPr>
              <a:t>DEFINITION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43F60"/>
                </a:solidFill>
              </a:rPr>
              <a:t>Data leakage</a:t>
            </a:r>
            <a:r>
              <a:rPr sz="1500" b="0">
                <a:solidFill>
                  <a:srgbClr val="243F60"/>
                </a:solidFill>
              </a:rPr>
              <a:t>: information about the target reaches the training features in a way that will </a:t>
            </a:r>
            <a:r>
              <a:rPr sz="1500" b="1">
                <a:solidFill>
                  <a:srgbClr val="243F60"/>
                </a:solidFill>
              </a:rPr>
              <a:t>not exist at prediction time</a:t>
            </a:r>
            <a:r>
              <a:rPr sz="1500" b="0">
                <a:solidFill>
                  <a:srgbClr val="243F60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0881360" cy="36576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FFFFFF"/>
                </a:solidFill>
              </a:rPr>
              <a:t>What this thesis sets out to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FFF3E6"/>
          </a:solidFill>
          <a:ln w="635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62626"/>
                </a:solidFill>
              </a:rPr>
              <a:t>Automate, quantify, and make actionable</a:t>
            </a:r>
            <a:r>
              <a:rPr sz="1700" b="0">
                <a:solidFill>
                  <a:srgbClr val="262626"/>
                </a:solidFill>
              </a:rPr>
              <a:t> dataset quality assessment and leakage detection — in a single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MOTIVATION &amp; OBJECTIVES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A Motivating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626"/>
                </a:solidFill>
              </a:rPr>
              <a:t>A logistic regression classifier trained on a dataset with an engineered leaky feature: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754880" cy="365760"/>
          </a:xfrm>
          <a:prstGeom prst="roundRect">
            <a:avLst>
              <a:gd name="adj" fmla="val 30000"/>
            </a:avLst>
          </a:prstGeom>
          <a:solidFill>
            <a:srgbClr val="B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FFFFFF"/>
                </a:solidFill>
              </a:rPr>
              <a:t>With leakage (as delivered)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4754880" cy="868680"/>
          </a:xfrm>
          <a:prstGeom prst="rect">
            <a:avLst/>
          </a:prstGeom>
          <a:solidFill>
            <a:srgbClr val="FBEAEA"/>
          </a:solidFill>
          <a:ln w="6350">
            <a:solidFill>
              <a:srgbClr val="B4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262626"/>
                </a:solidFill>
              </a:rPr>
              <a:t>Validation accuracy:  1.000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15000" y="2286000"/>
            <a:ext cx="777240" cy="411480"/>
          </a:xfrm>
          <a:prstGeom prst="rightArrow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29400" y="1828800"/>
            <a:ext cx="4754880" cy="365760"/>
          </a:xfrm>
          <a:prstGeom prst="roundRect">
            <a:avLst>
              <a:gd name="adj" fmla="val 30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FFFFFF"/>
                </a:solidFill>
              </a:rPr>
              <a:t>After removing leaky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2194560"/>
            <a:ext cx="4754880" cy="868680"/>
          </a:xfrm>
          <a:prstGeom prst="rect">
            <a:avLst/>
          </a:prstGeom>
          <a:solidFill>
            <a:srgbClr val="DDEEEE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262626"/>
                </a:solidFill>
              </a:rPr>
              <a:t>Validation accuracy:  0.952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33756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Δ = −0.048  of fake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</a:rPr>
              <a:t>•  That gap is the difference between a reproducible result and a broken one.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</a:rPr>
              <a:t>•  A human reviewer might catch this. </a:t>
            </a:r>
            <a:r>
              <a:rPr sz="1600" b="1">
                <a:solidFill>
                  <a:srgbClr val="262626"/>
                </a:solidFill>
              </a:rPr>
              <a:t>At scale, nobody reviews every feature of every dataset.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</a:rPr>
              <a:t>•  The framework presented today detects this automatically — and quantifies the damage.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MOTIVATION &amp; OBJECTIVES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The Gap in Existing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566160" cy="19202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ydata-profiling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262626"/>
                </a:solidFill>
              </a:rPr>
              <a:t>Descriptive profiling, correlation reports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555555"/>
                </a:solidFill>
              </a:rPr>
              <a:t>Leakage detection:</a:t>
            </a:r>
          </a:p>
          <a:p>
            <a:pPr algn="l"/>
            <a:r>
              <a:rPr sz="1300" b="1">
                <a:solidFill>
                  <a:srgbClr val="B41E1E"/>
                </a:solidFill>
              </a:rPr>
              <a:t>0 / 4 leakage scenarios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566160" cy="19202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63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Great Expectations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262626"/>
                </a:solidFill>
              </a:rPr>
              <a:t>Rule-based validation suites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555555"/>
                </a:solidFill>
              </a:rPr>
              <a:t>Leakage detection:</a:t>
            </a:r>
          </a:p>
          <a:p>
            <a:pPr algn="l"/>
            <a:r>
              <a:rPr sz="1300" b="1">
                <a:solidFill>
                  <a:srgbClr val="B41E1E"/>
                </a:solidFill>
              </a:rPr>
              <a:t>1 / 4 (manual rule only)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566160" cy="19202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Deepchecks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262626"/>
                </a:solidFill>
              </a:rPr>
              <a:t>Train/test validation checks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555555"/>
                </a:solidFill>
              </a:rPr>
              <a:t>Leakage detection:</a:t>
            </a:r>
          </a:p>
          <a:p>
            <a:pPr algn="l"/>
            <a:r>
              <a:rPr sz="1300" b="1">
                <a:solidFill>
                  <a:srgbClr val="B41E1E"/>
                </a:solidFill>
              </a:rPr>
              <a:t>0 / 4 leakage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</a:rPr>
              <a:t>•  Strong at profiling and rule-based validation — </a:t>
            </a:r>
            <a:r>
              <a:rPr sz="1600" b="1">
                <a:solidFill>
                  <a:srgbClr val="262626"/>
                </a:solidFill>
              </a:rPr>
              <a:t>but leakage detection is almost absent</a:t>
            </a:r>
            <a:r>
              <a:rPr sz="1600" b="0">
                <a:solidFill>
                  <a:srgbClr val="262626"/>
                </a:solidFill>
              </a:rPr>
              <a:t>, and none produces an interpretable readiness verdict or code-level fixes.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10881360" cy="36576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FFFFFF"/>
                </a:solidFill>
              </a:rPr>
              <a:t>Positioning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solidFill>
            <a:srgbClr val="FFF3E6"/>
          </a:solidFill>
          <a:ln w="635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The framework </a:t>
            </a:r>
            <a:r>
              <a:rPr sz="1600" b="1">
                <a:solidFill>
                  <a:srgbClr val="262626"/>
                </a:solidFill>
              </a:rPr>
              <a:t>complements</a:t>
            </a:r>
            <a:r>
              <a:rPr sz="1600" b="0">
                <a:solidFill>
                  <a:srgbClr val="262626"/>
                </a:solidFill>
              </a:rPr>
              <a:t> these tools — it fills the leakage-detection and actionability gap rather than replacing general-purpose profiling.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MOTIVATION &amp; OBJECTIVES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Objectives and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349240" cy="1600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353312"/>
            <a:ext cx="402336" cy="402336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316736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A unified, automated framework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20 deterministic checks across 5 dimensions (quality, leakage, features, sufficiency, drift) + impact analysis — via CLI, Python SDK, and web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5349240" cy="1600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36792" y="1353312"/>
            <a:ext cx="402336" cy="402336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316736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A unified Leakage Risk Score L(f)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Correlation, mutual information, and single-feature performance inflation combined into one flaggable number per feature.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5349240" cy="1600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090672"/>
            <a:ext cx="402336" cy="402336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54096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LLM-based semantic leakage analysis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Detects leakage from feature meaning (e.g. discharge_date) where statistics alone are blind.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926080"/>
            <a:ext cx="5349240" cy="1600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36792" y="3090672"/>
            <a:ext cx="402336" cy="402336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54096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A quantitative benchmark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Against three widely used tools on a 29-item checklist and four constructed leakage scenarios.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84632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20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automated checks, 5 dimensions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846320"/>
            <a:ext cx="246888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38728" y="484632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12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datasets (6 synthetic + 6 real)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8728" y="4846320"/>
            <a:ext cx="246888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484632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4/4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leakage scenarios detected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4846320"/>
            <a:ext cx="246888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78824" y="484632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343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unit tests passing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78824" y="4846320"/>
            <a:ext cx="246888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>
                <a:solidFill>
                  <a:srgbClr val="FF8000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System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2926080" cy="32004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Pipeline architecture and the three user interfaces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The 20-check catalog  ·  unified Leakage Risk Score with ablation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LLM semantic analysis  ·  from 20 checks to one readiness score</a:t>
            </a:r>
          </a:p>
        </p:txBody>
      </p:sp>
      <p:sp>
        <p:nvSpPr>
          <p:cNvPr id="8" name="Oval 7"/>
          <p:cNvSpPr/>
          <p:nvPr/>
        </p:nvSpPr>
        <p:spPr>
          <a:xfrm>
            <a:off x="9539935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23983" y="594360"/>
            <a:ext cx="201168" cy="20116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08031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2079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76127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SYSTEM &amp; METHODOLOGY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143000"/>
            <a:ext cx="1965960" cy="457200"/>
          </a:xfrm>
          <a:prstGeom prst="roundRect">
            <a:avLst>
              <a:gd name="adj" fmla="val 18000"/>
            </a:avLst>
          </a:prstGeom>
          <a:solidFill>
            <a:srgbClr val="FFF3E6"/>
          </a:solidFill>
          <a:ln w="1270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config.yaml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143000"/>
            <a:ext cx="1965960" cy="457200"/>
          </a:xfrm>
          <a:prstGeom prst="roundRect">
            <a:avLst>
              <a:gd name="adj" fmla="val 18000"/>
            </a:avLst>
          </a:prstGeom>
          <a:solidFill>
            <a:srgbClr val="FFF3E6"/>
          </a:solidFill>
          <a:ln w="1270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Dataset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74519"/>
            <a:ext cx="1965960" cy="457200"/>
          </a:xfrm>
          <a:prstGeom prst="roundRect">
            <a:avLst>
              <a:gd name="adj" fmla="val 18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load_dataset()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69748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quality checks (6)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69748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leakage checks (5)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69748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feature analysis (3)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269748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sufficiency checks (4)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70332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drift detection (2)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70332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impact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70332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semantic leakage (optional)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754880"/>
            <a:ext cx="2286000" cy="566928"/>
          </a:xfrm>
          <a:prstGeom prst="roundRect">
            <a:avLst>
              <a:gd name="adj" fmla="val 18000"/>
            </a:avLst>
          </a:prstGeom>
          <a:solidFill>
            <a:srgbClr val="DDEEEE"/>
          </a:solidFill>
          <a:ln w="1270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recommendations + readiness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754880"/>
            <a:ext cx="2286000" cy="566928"/>
          </a:xfrm>
          <a:prstGeom prst="roundRect">
            <a:avLst>
              <a:gd name="adj" fmla="val 18000"/>
            </a:avLst>
          </a:prstGeom>
          <a:solidFill>
            <a:srgbClr val="DDEEEE"/>
          </a:solidFill>
          <a:ln w="1270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262626"/>
                </a:solidFill>
              </a:rPr>
              <a:t>HTML report + JSON export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40580" y="1600200"/>
            <a:ext cx="845820" cy="274319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720840" y="1600200"/>
            <a:ext cx="845820" cy="274319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034540" y="2331719"/>
            <a:ext cx="4069080" cy="365761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777740" y="2331719"/>
            <a:ext cx="1325880" cy="365761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03620" y="2331719"/>
            <a:ext cx="1417320" cy="365761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03620" y="2331719"/>
            <a:ext cx="4160520" cy="365761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34540" y="3264408"/>
            <a:ext cx="662940" cy="43891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680460" y="3264408"/>
            <a:ext cx="1097280" cy="43891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377940" y="3264408"/>
            <a:ext cx="1143000" cy="43891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509760" y="3264408"/>
            <a:ext cx="754380" cy="43891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06140" y="4270248"/>
            <a:ext cx="708659" cy="48463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074919" y="4270248"/>
            <a:ext cx="1028701" cy="48463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852159" y="4270248"/>
            <a:ext cx="2948941" cy="48463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35039" y="5038344"/>
            <a:ext cx="640081" cy="0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58064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One YAML config + one CSV in  →  20 checks in 5 dimensions  →  recommendations, readiness score, and reports 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SYSTEM &amp; METHODOLOGY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Three Interfaces, One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99032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CLI</a:t>
            </a:r>
          </a:p>
          <a:p>
            <a:pPr algn="l"/>
            <a:r>
              <a:rPr sz="1300" b="0">
                <a:solidFill>
                  <a:srgbClr val="262626"/>
                </a:solidFill>
              </a:rPr>
              <a:t>main.py — batch runs, CI/CD friendly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96312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15184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Python SDK</a:t>
            </a:r>
          </a:p>
          <a:p>
            <a:pPr algn="l"/>
            <a:r>
              <a:rPr sz="1300" b="0">
                <a:solidFill>
                  <a:srgbClr val="262626"/>
                </a:solidFill>
              </a:rPr>
              <a:t>DatasetChecker — notebooks and pipelines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12464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31336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Streamlit web app</a:t>
            </a:r>
          </a:p>
          <a:p>
            <a:pPr algn="l"/>
            <a:r>
              <a:rPr sz="1300" b="0">
                <a:solidFill>
                  <a:srgbClr val="262626"/>
                </a:solidFill>
              </a:rPr>
              <a:t>eight-tab dashboard for non-programmers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Plus a @register_check </a:t>
            </a:r>
            <a:r>
              <a:rPr sz="1300" b="1">
                <a:solidFill>
                  <a:srgbClr val="555555"/>
                </a:solidFill>
              </a:rPr>
              <a:t>plugin API</a:t>
            </a:r>
            <a:r>
              <a:rPr sz="1300" b="0">
                <a:solidFill>
                  <a:srgbClr val="555555"/>
                </a:solidFill>
              </a:rPr>
              <a:t> for custom, domain-specific checks.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280160"/>
            <a:ext cx="5577840" cy="3566160"/>
          </a:xfrm>
          <a:prstGeom prst="rect">
            <a:avLst/>
          </a:prstGeom>
          <a:solidFill>
            <a:srgbClr val="F7F7F7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82880" tIns="109728"/>
          <a:lstStyle/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from src.checker import DatasetChecker</a:t>
            </a:r>
          </a:p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checker = DatasetChecker(</a:t>
            </a:r>
          </a:p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    "configs/config.yaml")</a:t>
            </a:r>
          </a:p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report = checker.run(</a:t>
            </a:r>
          </a:p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    "data/titanic.csv",</a:t>
            </a:r>
          </a:p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    target_col="survived")</a:t>
            </a:r>
          </a:p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print(checker.score, checker.grade)</a:t>
            </a:r>
          </a:p>
          <a:p>
            <a:pPr algn="l"/>
            <a:r>
              <a:rPr sz="1400">
                <a:solidFill>
                  <a:srgbClr val="1E3A66"/>
                </a:solidFill>
                <a:latin typeface="Consolas"/>
              </a:rPr>
              <a:t>checker.save_report("reports/")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80160"/>
            <a:ext cx="54864" cy="356616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SYSTEM &amp; METHODOLOGY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The 20-Check Catalog (5 Dimensions)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188720"/>
          <a:ext cx="1051559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731520"/>
                <a:gridCol w="795527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Checks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Quality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missing values, duplicates, outliers, class imbalance, constant features, low variance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Leakage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target leakage, train/test overlap, temporal, ID columns, </a:t>
                      </a:r>
                      <a:r>
                        <a:rPr sz="1400" b="1">
                          <a:solidFill>
                            <a:srgbClr val="262626"/>
                          </a:solidFill>
                        </a:rPr>
                        <a:t>unified risk score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Features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correlation structure, MI relevance, distribution shape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Sufficiency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sample size, n/p ratio, class support, power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Drift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</a:rPr>
                        <a:t>KS test, PSI (covariate + label)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62626"/>
                </a:solidFill>
              </a:rPr>
              <a:t>•  Each check returns a structured CheckResult (pass/fail, severity, affected columns).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62626"/>
                </a:solidFill>
              </a:rPr>
              <a:t>•  Failed checks map to </a:t>
            </a:r>
            <a:r>
              <a:rPr sz="1600" b="1">
                <a:solidFill>
                  <a:srgbClr val="262626"/>
                </a:solidFill>
              </a:rPr>
              <a:t>20 recommendation handlers</a:t>
            </a:r>
            <a:r>
              <a:rPr sz="1600" b="0">
                <a:solidFill>
                  <a:srgbClr val="262626"/>
                </a:solidFill>
              </a:rPr>
              <a:t> producing code-level fixes.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62626"/>
                </a:solidFill>
              </a:rPr>
              <a:t>•  Optional 21st check: LLM semantic leakage (disabled by default).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SYSTEM &amp; METHODOLOGY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Unified Leakage Risk Score  L(f)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188720"/>
            <a:ext cx="7772400" cy="777240"/>
          </a:xfrm>
          <a:prstGeom prst="roundRect">
            <a:avLst>
              <a:gd name="adj" fmla="val 30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243F60"/>
                </a:solidFill>
              </a:rPr>
              <a:t>L(f)  =  0.35 · ρ(f)  +  0.35 · Ĩ(f; y)  +  0.30 · π(f)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43F60"/>
                </a:solidFill>
              </a:rPr>
              <a:t>ρ(f) — correlation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262626"/>
                </a:solidFill>
              </a:rPr>
              <a:t>Pearson |r| (numeric) or Cramér's V (categorical), in [0, 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317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5146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43F60"/>
                </a:solidFill>
              </a:rPr>
              <a:t>Ĩ(f; y) — mutual information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262626"/>
                </a:solidFill>
              </a:rPr>
              <a:t>normalized by the maximum MI across features, in [0, 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3317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43F60"/>
                </a:solidFill>
              </a:rPr>
              <a:t>π(f) — performance inflation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262626"/>
                </a:solidFill>
              </a:rPr>
              <a:t>(A_f − A_base) / (1 − A_base): how close does this single feature get a model to perfect accuracy?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526280"/>
            <a:ext cx="7772400" cy="36576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FFFFFF"/>
                </a:solidFill>
              </a:rPr>
              <a:t>Flagging thresholds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4892040"/>
            <a:ext cx="7772400" cy="685800"/>
          </a:xfrm>
          <a:prstGeom prst="rect">
            <a:avLst/>
          </a:prstGeom>
          <a:solidFill>
            <a:srgbClr val="FFF3E6"/>
          </a:solidFill>
          <a:ln w="635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262626"/>
                </a:solidFill>
              </a:rPr>
              <a:t>L(f) ≥ 0.7  ⇒  </a:t>
            </a:r>
            <a:r>
              <a:rPr sz="1800" b="1">
                <a:solidFill>
                  <a:srgbClr val="262626"/>
                </a:solidFill>
              </a:rPr>
              <a:t>warning</a:t>
            </a:r>
            <a:r>
              <a:rPr sz="1800" b="0">
                <a:solidFill>
                  <a:srgbClr val="262626"/>
                </a:solidFill>
              </a:rPr>
              <a:t>             L(f) ≥ 0.9  ⇒  </a:t>
            </a:r>
            <a:r>
              <a:rPr sz="1800" b="1">
                <a:solidFill>
                  <a:srgbClr val="262626"/>
                </a:solidFill>
              </a:rPr>
              <a:t>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Single statistics miss real leaks; three complementary signals are far more robust.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SYSTEM &amp; METHODOLOGY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Are the Weights Arbitrary? —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626"/>
                </a:solidFill>
              </a:rPr>
              <a:t>Weight-sensitivity analysis on known leaky features (Titanic):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63040" y="1645920"/>
          <a:ext cx="923544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2011680"/>
                <a:gridCol w="301752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Weight scheme  (ρ / Ĩ / π)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L(name)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L(boat)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</a:rPr>
                        <a:t>Default (0.35 / 0.35 / 0.30)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62626"/>
                          </a:solidFill>
                        </a:rPr>
                        <a:t>1.000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62626"/>
                          </a:solidFill>
                        </a:rPr>
                        <a:t>0.74</a:t>
                      </a:r>
                      <a:r>
                        <a:rPr sz="1500" b="0">
                          <a:solidFill>
                            <a:srgbClr val="262626"/>
                          </a:solidFill>
                        </a:rPr>
                        <a:t>  ✓ flagged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</a:rPr>
                        <a:t>Correlation-heavy (0.50 / 0.25 / 0.25)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1.000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0.662  ✗ below threshold!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</a:rPr>
                        <a:t>MI- or π-weighted schemes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1.000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flagged  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>
                <a:solidFill>
                  <a:srgbClr val="262626"/>
                </a:solidFill>
              </a:rPr>
              <a:t>•  boat (lifeboat number) is a true leak, but its raw correlation is diluted by missing values — an over-weighted correlation term produces a </a:t>
            </a:r>
            <a:r>
              <a:rPr sz="1600" b="1">
                <a:solidFill>
                  <a:srgbClr val="262626"/>
                </a:solidFill>
              </a:rPr>
              <a:t>false negative</a:t>
            </a:r>
            <a:r>
              <a:rPr sz="1600" b="0">
                <a:solidFill>
                  <a:srgbClr val="262626"/>
                </a:solidFill>
              </a:rPr>
              <a:t>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262626"/>
                </a:solidFill>
              </a:rPr>
              <a:t>•  Every scheme that gives reasonable weight to MI or performance inflation catches it.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262626"/>
                </a:solidFill>
              </a:rPr>
              <a:t>•  Empirical evidence that the default weights are </a:t>
            </a:r>
            <a:r>
              <a:rPr sz="1600" b="1">
                <a:solidFill>
                  <a:srgbClr val="262626"/>
                </a:solidFill>
              </a:rPr>
              <a:t>defensible, not decorative</a:t>
            </a:r>
            <a:r>
              <a:rPr sz="1600" b="0">
                <a:solidFill>
                  <a:srgbClr val="262626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SYSTEM &amp; METHODOLOGY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Semantic Leakage Analysis with an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43F60"/>
                </a:solidFill>
              </a:rPr>
              <a:t>Why statistics are not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•  A feature named discharge_date in an ICU mortality dataset is leaky </a:t>
            </a:r>
            <a:r>
              <a:rPr sz="1500" b="1">
                <a:solidFill>
                  <a:srgbClr val="262626"/>
                </a:solidFill>
              </a:rPr>
              <a:t>by meaning</a:t>
            </a:r>
            <a:r>
              <a:rPr sz="1500" b="0">
                <a:solidFill>
                  <a:srgbClr val="262626"/>
                </a:solidFill>
              </a:rPr>
              <a:t>: it may show weak correlation, yet it cannot exist at prediction time.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•  No statistical test reads feature </a:t>
            </a:r>
            <a:r>
              <a:rPr sz="1500" b="1">
                <a:solidFill>
                  <a:srgbClr val="262626"/>
                </a:solidFill>
              </a:rPr>
              <a:t>names</a:t>
            </a:r>
            <a:r>
              <a:rPr sz="1500" b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43F60"/>
                </a:solidFill>
              </a:rP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•  Feature names + sample values + dataset description → </a:t>
            </a:r>
            <a:r>
              <a:rPr sz="1500" b="1">
                <a:solidFill>
                  <a:srgbClr val="262626"/>
                </a:solidFill>
              </a:rPr>
              <a:t>GPT-4o-mini</a:t>
            </a:r>
            <a:r>
              <a:rPr sz="1500" b="0">
                <a:solidFill>
                  <a:srgbClr val="262626"/>
                </a:solidFill>
              </a:rPr>
              <a:t> (Azure) or </a:t>
            </a:r>
            <a:r>
              <a:rPr sz="1500" b="1">
                <a:solidFill>
                  <a:srgbClr val="262626"/>
                </a:solidFill>
              </a:rPr>
              <a:t>Claude Haiku 4.5</a:t>
            </a:r>
            <a:r>
              <a:rPr sz="1500" b="0">
                <a:solidFill>
                  <a:srgbClr val="262626"/>
                </a:solidFill>
              </a:rPr>
              <a:t> (AWS Bedrock).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•  Provider-agnostic; degrades gracefully without credentials; disabled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280160"/>
            <a:ext cx="4754880" cy="36576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FFFFFF"/>
                </a:solidFill>
              </a:rPr>
              <a:t>Per-feature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645920"/>
            <a:ext cx="4754880" cy="1600200"/>
          </a:xfrm>
          <a:prstGeom prst="rect">
            <a:avLst/>
          </a:prstGeom>
          <a:solidFill>
            <a:srgbClr val="FFF3E6"/>
          </a:solidFill>
          <a:ln w="635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</a:rPr>
              <a:t>risk_level:   none / low / medium / high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</a:rPr>
              <a:t>leakage_type:   temporal / proxy / post-hoc / indirect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</a:rPr>
              <a:t>+ natural-language rationale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754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0% → F1 1.00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naming-based leakage detection, live evaluation (30-feature benchmark)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4754880" cy="6400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SYSTEM &amp; METHODOLOGY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Semantic Module: Live Evaluation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Manually labelled 30-feature benchmark, evaluated </a:t>
            </a:r>
            <a:r>
              <a:rPr sz="1600" b="1">
                <a:solidFill>
                  <a:srgbClr val="262626"/>
                </a:solidFill>
              </a:rPr>
              <a:t>live</a:t>
            </a:r>
            <a:r>
              <a:rPr sz="1600" b="0">
                <a:solidFill>
                  <a:srgbClr val="262626"/>
                </a:solidFill>
              </a:rPr>
              <a:t> against Claude Haiku 4.5 (AWS Bedrock):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03120" y="1600200"/>
          <a:ext cx="8138160" cy="131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051560"/>
                <a:gridCol w="1051560"/>
                <a:gridCol w="1051560"/>
                <a:gridCol w="777240"/>
                <a:gridCol w="777240"/>
                <a:gridCol w="77724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TP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FP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</a:rPr>
                        <a:t>medium (default)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62626"/>
                          </a:solidFill>
                        </a:rPr>
                        <a:t>1.000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62626"/>
                          </a:solidFill>
                        </a:rPr>
                        <a:t>1.000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62626"/>
                          </a:solidFill>
                        </a:rPr>
                        <a:t>1.000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</a:rPr>
                        <a:t>high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0.917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0.846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0.880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063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At the high threshold, three disagreements are genuine model behaviour, not mock artefacts: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520440"/>
          <a:ext cx="1051560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554480"/>
                <a:gridCol w="155448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Ground truth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Predicted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treatment_count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medium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high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Documented as genuinely ambiguous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batch_rejection_rate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high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medium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Proxy feature, under-called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training_completion_post_hire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high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medium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Temporal feature, under-called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257800"/>
            <a:ext cx="10881360" cy="365760"/>
          </a:xfrm>
          <a:prstGeom prst="roundRect">
            <a:avLst>
              <a:gd name="adj" fmla="val 30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623560"/>
            <a:ext cx="10881360" cy="594360"/>
          </a:xfrm>
          <a:prstGeom prst="rect">
            <a:avLst/>
          </a:prstGeom>
          <a:solidFill>
            <a:srgbClr val="DDEEEE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262626"/>
                </a:solidFill>
              </a:rPr>
              <a:t>Unlike the earlier mock (rigged with knowledge of the benchmark's exact names), this is an </a:t>
            </a:r>
            <a:r>
              <a:rPr sz="1350" b="1">
                <a:solidFill>
                  <a:srgbClr val="262626"/>
                </a:solidFill>
              </a:rPr>
              <a:t>independent, third-party model</a:t>
            </a:r>
            <a:r>
              <a:rPr sz="1350" b="0">
                <a:solidFill>
                  <a:srgbClr val="262626"/>
                </a:solidFill>
              </a:rPr>
              <a:t> — its errors are real evidence, not an artefact of the test design. Azure OpenAI credentials were never obtained for this project; AWS credits were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SYSTEM &amp; METHODOLOGY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From 20 Checks to One Number: the Readiness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234440"/>
            <a:ext cx="9418320" cy="777240"/>
          </a:xfrm>
          <a:prstGeom prst="roundRect">
            <a:avLst>
              <a:gd name="adj" fmla="val 30000"/>
            </a:avLst>
          </a:prstGeom>
          <a:solidFill>
            <a:srgbClr val="E8EFF9"/>
          </a:solidFill>
          <a:ln w="12700">
            <a:solidFill>
              <a:srgbClr val="24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43F60"/>
                </a:solidFill>
              </a:rPr>
              <a:t>overall  =  0.25·S_quality  +  0.35·S_leakage  +  0.25·S_features  +  0.15·S_sufficiency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</a:rPr>
              <a:t>•  Per dimension: start at 100, subtract </a:t>
            </a:r>
            <a:r>
              <a:rPr sz="1700" b="1">
                <a:solidFill>
                  <a:srgbClr val="262626"/>
                </a:solidFill>
              </a:rPr>
              <a:t>15 per error</a:t>
            </a:r>
            <a:r>
              <a:rPr sz="1700" b="0">
                <a:solidFill>
                  <a:srgbClr val="262626"/>
                </a:solidFill>
              </a:rPr>
              <a:t>, </a:t>
            </a:r>
            <a:r>
              <a:rPr sz="1700" b="1">
                <a:solidFill>
                  <a:srgbClr val="262626"/>
                </a:solidFill>
              </a:rPr>
              <a:t>5 per warning</a:t>
            </a:r>
            <a:r>
              <a:rPr sz="1700" b="0">
                <a:solidFill>
                  <a:srgbClr val="262626"/>
                </a:solidFill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</a:rPr>
              <a:t>•  </a:t>
            </a:r>
            <a:r>
              <a:rPr sz="1700" b="1">
                <a:solidFill>
                  <a:srgbClr val="262626"/>
                </a:solidFill>
              </a:rPr>
              <a:t>Leakage carries the largest weight (0.35)</a:t>
            </a:r>
            <a:r>
              <a:rPr sz="1700" b="0">
                <a:solidFill>
                  <a:srgbClr val="262626"/>
                </a:solidFill>
              </a:rPr>
              <a:t>: it is the only failure mode that silently inflates results instead of visibly degrading them.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</a:rPr>
              <a:t>•  All weights and penalties are </a:t>
            </a:r>
            <a:r>
              <a:rPr sz="1700" b="1">
                <a:solidFill>
                  <a:srgbClr val="262626"/>
                </a:solidFill>
              </a:rPr>
              <a:t>configurable</a:t>
            </a:r>
            <a:r>
              <a:rPr sz="1700" b="0">
                <a:solidFill>
                  <a:srgbClr val="262626"/>
                </a:solidFill>
              </a:rPr>
              <a:t> in config.yaml.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4892040"/>
            <a:ext cx="1508760" cy="548640"/>
          </a:xfrm>
          <a:prstGeom prst="roundRect">
            <a:avLst>
              <a:gd name="adj" fmla="val 35000"/>
            </a:avLst>
          </a:prstGeom>
          <a:solidFill>
            <a:srgbClr val="D6ECD6"/>
          </a:solidFill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A ≥ 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79" y="4892040"/>
            <a:ext cx="1508760" cy="548640"/>
          </a:xfrm>
          <a:prstGeom prst="roundRect">
            <a:avLst>
              <a:gd name="adj" fmla="val 35000"/>
            </a:avLst>
          </a:prstGeom>
          <a:solidFill>
            <a:srgbClr val="DDEEEE"/>
          </a:solidFill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B ≥ 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39" y="4892040"/>
            <a:ext cx="1508760" cy="548640"/>
          </a:xfrm>
          <a:prstGeom prst="roundRect">
            <a:avLst>
              <a:gd name="adj" fmla="val 35000"/>
            </a:avLst>
          </a:prstGeom>
          <a:solidFill>
            <a:srgbClr val="FFE9CC"/>
          </a:solidFill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C ≥ 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599" y="4892040"/>
            <a:ext cx="1508760" cy="548640"/>
          </a:xfrm>
          <a:prstGeom prst="roundRect">
            <a:avLst>
              <a:gd name="adj" fmla="val 35000"/>
            </a:avLst>
          </a:prstGeom>
          <a:solidFill>
            <a:srgbClr val="FFD9A8"/>
          </a:solidFill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D ≥ 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59" y="4892040"/>
            <a:ext cx="1508760" cy="548640"/>
          </a:xfrm>
          <a:prstGeom prst="roundRect">
            <a:avLst>
              <a:gd name="adj" fmla="val 35000"/>
            </a:avLst>
          </a:prstGeom>
          <a:solidFill>
            <a:srgbClr val="F6D0D0"/>
          </a:solidFill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F &lt;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>
                <a:solidFill>
                  <a:srgbClr val="FF8000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Experimental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2926080" cy="32004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Twelve datasets: six synthetic with planted defects, six real-world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Readiness scores  ·  the Titanic case study  ·  quantifying leakage damage</a:t>
            </a:r>
          </a:p>
        </p:txBody>
      </p:sp>
      <p:sp>
        <p:nvSpPr>
          <p:cNvPr id="8" name="Oval 7"/>
          <p:cNvSpPr/>
          <p:nvPr/>
        </p:nvSpPr>
        <p:spPr>
          <a:xfrm>
            <a:off x="9539935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23983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08031" y="594360"/>
            <a:ext cx="201168" cy="20116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2079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76127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EXPERIMENTAL RESULTS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Experimental Setup: 12 Datasets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6 synthetic — controlled ground truth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94960" cy="30632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clean_dataset — control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dirty_dataset — quality issues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leaky_dataset — leakage issues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proxy_leakage — graded noisy proxies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temporal_leakage_ext — future feature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multitype_leakage — ICU: proxy + temporal +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3F60"/>
                </a:solidFill>
              </a:rPr>
              <a:t>6 real-world — OpenML / UCI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94960" cy="30632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Titanic (1,309 rows)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Pima Diabetes (768)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Adult Census (48,842)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German Credit (1,000)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Heart Disease (303)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</a:rPr>
              <a:t>•  Wine Quality (1,599)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62626"/>
                </a:solidFill>
              </a:rPr>
              <a:t>•  Synthetic sets verify the framework </a:t>
            </a:r>
            <a:r>
              <a:rPr sz="1600" b="1">
                <a:solidFill>
                  <a:srgbClr val="262626"/>
                </a:solidFill>
              </a:rPr>
              <a:t>detects what we planted</a:t>
            </a:r>
            <a:r>
              <a:rPr sz="1600" b="0">
                <a:solidFill>
                  <a:srgbClr val="262626"/>
                </a:solidFill>
              </a:rPr>
              <a:t>; real sets verify it </a:t>
            </a:r>
            <a:r>
              <a:rPr sz="1600" b="1">
                <a:solidFill>
                  <a:srgbClr val="262626"/>
                </a:solidFill>
              </a:rPr>
              <a:t>finds surprises in the wild</a:t>
            </a:r>
            <a:r>
              <a:rPr sz="1600" b="0">
                <a:solidFill>
                  <a:srgbClr val="262626"/>
                </a:solidFill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62626"/>
                </a:solidFill>
              </a:rPr>
              <a:t>•  Full pipeline per dataset: 20 checks + impact analysis (23 results).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EXPERIMENTAL RESULTS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Readiness Scores Discriminate as Designed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1143000"/>
          <a:ext cx="101498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52120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8B"/>
                </a:solidFill>
              </a:rPr>
              <a:t>■ Grade A (≥ 85)        </a:t>
            </a:r>
            <a:r>
              <a:rPr sz="1500" b="1">
                <a:solidFill>
                  <a:srgbClr val="FF8000"/>
                </a:solidFill>
              </a:rPr>
              <a:t>■ Grade B (≥ 70)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Only the datasets with </a:t>
            </a:r>
            <a:r>
              <a:rPr sz="1200" b="1">
                <a:solidFill>
                  <a:srgbClr val="555555"/>
                </a:solidFill>
              </a:rPr>
              <a:t>confirmed target leakage</a:t>
            </a:r>
            <a:r>
              <a:rPr sz="1200" b="0">
                <a:solidFill>
                  <a:srgbClr val="555555"/>
                </a:solidFill>
              </a:rPr>
              <a:t> drop to grade B — quality noise alone (dirty) stays A.  UCI suite: Adult 92.4, German Credit 97.5, Heart Disease 96.8, Wine Quality 88.6 (all A).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EXPERIMENTAL RESULTS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Case Study: Titanic — Real Leaks in a Classic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6400800" cy="16916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4008" cy="1691640"/>
          </a:xfrm>
          <a:prstGeom prst="rect">
            <a:avLst/>
          </a:prstGeom>
          <a:solidFill>
            <a:srgbClr val="B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6035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43F60"/>
                </a:solidFill>
                <a:latin typeface="Consolas"/>
              </a:rPr>
              <a:t>name</a:t>
            </a:r>
            <a:r>
              <a:rPr sz="1300">
                <a:solidFill>
                  <a:srgbClr val="262626"/>
                </a:solidFill>
              </a:rPr>
              <a:t>    Cramér's V = 0.999 with survived</a:t>
            </a:r>
          </a:p>
          <a:p>
            <a:pPr algn="l"/>
            <a:r>
              <a:rPr sz="1300" b="1">
                <a:solidFill>
                  <a:srgbClr val="B41E1E"/>
                </a:solidFill>
              </a:rPr>
              <a:t>target leakage — ERROR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Unique names act as row identifiers.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59"/>
            <a:ext cx="6400800" cy="16916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08959"/>
            <a:ext cx="64008" cy="169164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7"/>
            <a:ext cx="6035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43F60"/>
                </a:solidFill>
                <a:latin typeface="Consolas"/>
              </a:rPr>
              <a:t>boat</a:t>
            </a:r>
            <a:r>
              <a:rPr sz="1300">
                <a:solidFill>
                  <a:srgbClr val="262626"/>
                </a:solidFill>
              </a:rPr>
              <a:t>    Unified risk score L = 0.74</a:t>
            </a:r>
          </a:p>
          <a:p>
            <a:pPr algn="l"/>
            <a:r>
              <a:rPr sz="1300" b="1">
                <a:solidFill>
                  <a:srgbClr val="FF8000"/>
                </a:solidFill>
              </a:rPr>
              <a:t>post-hoc leakage — WARNING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Lifeboat number is assigned after the outcome: knowing it literally encodes survival.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</a:rPr>
              <a:t>•  Neither is caught by any of the three baseline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234440"/>
            <a:ext cx="4297680" cy="36576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600200"/>
            <a:ext cx="4297680" cy="2011680"/>
          </a:xfrm>
          <a:prstGeom prst="rect">
            <a:avLst/>
          </a:prstGeom>
          <a:solidFill>
            <a:srgbClr val="FFF3E6"/>
          </a:solidFill>
          <a:ln w="635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262626"/>
                </a:solidFill>
              </a:rPr>
              <a:t>Titanic is used in thousands of tutorials and courses. Models “achieving” high accuracy with boat included are </a:t>
            </a:r>
            <a:r>
              <a:rPr sz="1350" b="1">
                <a:solidFill>
                  <a:srgbClr val="262626"/>
                </a:solidFill>
              </a:rPr>
              <a:t>textbook post-hoc leakage</a:t>
            </a:r>
            <a:r>
              <a:rPr sz="1350" b="0">
                <a:solidFill>
                  <a:srgbClr val="262626"/>
                </a:solidFill>
              </a:rPr>
              <a:t> — and it takes an automated tool 30 seconds to prove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931920"/>
            <a:ext cx="42976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80.6 / B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Titanic readiness (14/22 checks passed)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931920"/>
            <a:ext cx="429768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9788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Additional case studies (thesis §5.5): Adult Census (missing values, skew), German Credit (near-zero-MI features), Wine Quality (15% duplicates → error).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EXPERIMENTAL RESULTS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Quantifying the Damage: Impact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626"/>
                </a:solidFill>
              </a:rPr>
              <a:t>The pipeline retrains the same model with and without the flagged features (cross-validated):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77440" y="1691640"/>
          <a:ext cx="7406640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828800"/>
                <a:gridCol w="18288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Dataset (LR)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Baseline acc.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Cleaned acc.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</a:rPr>
                        <a:t>leaky_dataset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</a:rPr>
                        <a:t>1.000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</a:rPr>
                        <a:t>0.952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2626"/>
                          </a:solidFill>
                        </a:rPr>
                        <a:t>−0.048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15468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</a:rPr>
              <a:t>•  A </a:t>
            </a:r>
            <a:r>
              <a:rPr sz="1700" b="1">
                <a:solidFill>
                  <a:srgbClr val="262626"/>
                </a:solidFill>
              </a:rPr>
              <a:t>positive</a:t>
            </a:r>
            <a:r>
              <a:rPr sz="1700" b="0">
                <a:solidFill>
                  <a:srgbClr val="262626"/>
                </a:solidFill>
              </a:rPr>
              <a:t> baseline−cleaned gap is direct, quantified evidence of leakage — not just a statistical suspicion.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</a:rPr>
              <a:t>•  This closes the loop on the motivating example: the framework </a:t>
            </a:r>
            <a:r>
              <a:rPr sz="1700" b="1">
                <a:solidFill>
                  <a:srgbClr val="262626"/>
                </a:solidFill>
              </a:rPr>
              <a:t>finds</a:t>
            </a:r>
            <a:r>
              <a:rPr sz="1700" b="0">
                <a:solidFill>
                  <a:srgbClr val="262626"/>
                </a:solidFill>
              </a:rPr>
              <a:t> the leak, </a:t>
            </a:r>
            <a:r>
              <a:rPr sz="1700" b="1">
                <a:solidFill>
                  <a:srgbClr val="262626"/>
                </a:solidFill>
              </a:rPr>
              <a:t>explains</a:t>
            </a:r>
            <a:r>
              <a:rPr sz="1700" b="0">
                <a:solidFill>
                  <a:srgbClr val="262626"/>
                </a:solidFill>
              </a:rPr>
              <a:t> it, and </a:t>
            </a:r>
            <a:r>
              <a:rPr sz="1700" b="1">
                <a:solidFill>
                  <a:srgbClr val="262626"/>
                </a:solidFill>
              </a:rPr>
              <a:t>measures</a:t>
            </a:r>
            <a:r>
              <a:rPr sz="1700" b="0">
                <a:solidFill>
                  <a:srgbClr val="262626"/>
                </a:solidFill>
              </a:rPr>
              <a:t> how much of the reported performance was fake.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</a:rPr>
              <a:t>•  Recommendations then emit the exact pandas code to drop or re-derive the offending columns.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>
                <a:solidFill>
                  <a:srgbClr val="FF8000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2926080" cy="32004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Feature coverage on a 29-item cross-tool checklist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Leakage detection on four constructed scenarios — the decisive result</a:t>
            </a:r>
          </a:p>
        </p:txBody>
      </p:sp>
      <p:sp>
        <p:nvSpPr>
          <p:cNvPr id="8" name="Oval 7"/>
          <p:cNvSpPr/>
          <p:nvPr/>
        </p:nvSpPr>
        <p:spPr>
          <a:xfrm>
            <a:off x="9539935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23983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08031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2079" y="594360"/>
            <a:ext cx="201168" cy="20116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76127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BENCHMARK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Feature Coverage vs. Three Established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280160" y="1143000"/>
          <a:ext cx="96012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61772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262626"/>
                </a:solidFill>
              </a:rPr>
              <a:t>•  The 29-item checklist is a </a:t>
            </a:r>
            <a:r>
              <a:rPr sz="1450" b="1">
                <a:solidFill>
                  <a:srgbClr val="262626"/>
                </a:solidFill>
              </a:rPr>
              <a:t>cross-tool comparison instrument</a:t>
            </a:r>
            <a:r>
              <a:rPr sz="1450" b="0">
                <a:solidFill>
                  <a:srgbClr val="262626"/>
                </a:solidFill>
              </a:rPr>
              <a:t> (more granular than the 20-check pipeline; the two numbers measure different things).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262626"/>
                </a:solidFill>
              </a:rPr>
              <a:t>•  </a:t>
            </a:r>
            <a:r>
              <a:rPr sz="1450" b="1">
                <a:solidFill>
                  <a:srgbClr val="262626"/>
                </a:solidFill>
              </a:rPr>
              <a:t>Fairness note</a:t>
            </a:r>
            <a:r>
              <a:rPr sz="1450" b="0">
                <a:solidFill>
                  <a:srgbClr val="262626"/>
                </a:solidFill>
              </a:rPr>
              <a:t>: the baselines target profiling/validation, not leakage — the comparison measures scope, and the checklist was published with the benchmark code for scrutiny.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BENCHMARK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Leakage Detection — the Decisive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626"/>
                </a:solidFill>
              </a:rPr>
              <a:t>Four constructed leakage scenarios, each tool run with default configuration: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88720" y="1645920"/>
          <a:ext cx="97840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1828800"/>
                <a:gridCol w="1371600"/>
                <a:gridCol w="16459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ml-framework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ydata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Deepchecks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Great Exp.</a:t>
                      </a:r>
                    </a:p>
                  </a:txBody>
                  <a:tcPr anchor="ctr" marL="73152" marR="73152">
                    <a:solidFill>
                      <a:srgbClr val="243F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</a:rPr>
                        <a:t>Perfect proxy (r = 1.0)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7A1E"/>
                          </a:solidFill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</a:rPr>
                        <a:t>Noisy proxy (r ≈ 0.97)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7A1E"/>
                          </a:solidFill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</a:rPr>
                        <a:t>ID column (100% cardinality)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7A1E"/>
                          </a:solidFill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7A1E"/>
                          </a:solidFill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</a:rPr>
                        <a:t>Indirect computed feature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7A1E"/>
                          </a:solidFill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1E1E"/>
                          </a:solidFill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</a:rPr>
                        <a:t>Detection rate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62626"/>
                          </a:solidFill>
                        </a:rPr>
                        <a:t>4/4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0/4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0/4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</a:rPr>
                        <a:t>1/4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70916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</a:rPr>
              <a:t>•  Great Expectations' single detection required a </a:t>
            </a:r>
            <a:r>
              <a:rPr sz="1700" b="1">
                <a:solidFill>
                  <a:srgbClr val="262626"/>
                </a:solidFill>
              </a:rPr>
              <a:t>manually authored rule</a:t>
            </a:r>
            <a:r>
              <a:rPr sz="1700" b="0">
                <a:solidFill>
                  <a:srgbClr val="262626"/>
                </a:solidFill>
              </a:rPr>
              <a:t>; ml-framework's four are fully automatic.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</a:rPr>
              <a:t>•  This is precisely the gap the thesis set out to fill.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>
                <a:solidFill>
                  <a:srgbClr val="FF8000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Demo &amp;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2926080" cy="32004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Live Streamlit demo on the Titanic dataset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9C8DC"/>
                </a:solidFill>
              </a:rPr>
              <a:t>Conclusions  ·  future research directions</a:t>
            </a:r>
          </a:p>
        </p:txBody>
      </p:sp>
      <p:sp>
        <p:nvSpPr>
          <p:cNvPr id="8" name="Oval 7"/>
          <p:cNvSpPr/>
          <p:nvPr/>
        </p:nvSpPr>
        <p:spPr>
          <a:xfrm>
            <a:off x="9539935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23983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08031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2079" y="594360"/>
            <a:ext cx="201168" cy="201168"/>
          </a:xfrm>
          <a:prstGeom prst="ellipse">
            <a:avLst/>
          </a:prstGeom>
          <a:solidFill>
            <a:srgbClr val="4A6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76127" y="594360"/>
            <a:ext cx="201168" cy="20116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DEMO &amp; CONCLUSIONS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Live Demo: Streamlit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43F60"/>
                </a:solidFill>
              </a:rPr>
              <a:t>What you will see (titanic.csv):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05356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62626"/>
                </a:solidFill>
              </a:rPr>
              <a:t>Upload the CSV, select survived as target.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496312"/>
            <a:ext cx="384048" cy="38404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002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62626"/>
                </a:solidFill>
              </a:rPr>
              <a:t>Pipeline runs live: 20 checks + impact analysis.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300984"/>
            <a:ext cx="384048" cy="38404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1470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62626"/>
                </a:solidFill>
              </a:rPr>
              <a:t>Readiness score </a:t>
            </a:r>
            <a:r>
              <a:rPr sz="1450" b="1">
                <a:solidFill>
                  <a:srgbClr val="262626"/>
                </a:solidFill>
              </a:rPr>
              <a:t>80.6 / B</a:t>
            </a:r>
            <a:r>
              <a:rPr sz="1450" b="0">
                <a:solidFill>
                  <a:srgbClr val="262626"/>
                </a:solidFill>
              </a:rPr>
              <a:t> with per-dimension breakdown.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105656"/>
            <a:ext cx="384048" cy="38404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11937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62626"/>
                </a:solidFill>
              </a:rPr>
              <a:t>name and boat flagged with explanations and suggested fixes.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10328"/>
            <a:ext cx="384048" cy="384048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24044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62626"/>
                </a:solidFill>
              </a:rPr>
              <a:t>Downloadable HTML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280160"/>
            <a:ext cx="4572000" cy="36576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FFFFFF"/>
                </a:solidFill>
              </a:rPr>
              <a:t>Run it yourself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645920"/>
            <a:ext cx="4572000" cy="640080"/>
          </a:xfrm>
          <a:prstGeom prst="rect">
            <a:avLst/>
          </a:prstGeom>
          <a:solidFill>
            <a:srgbClr val="FFF3E6"/>
          </a:solidFill>
          <a:ln w="635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streamlit run app/app.py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060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Eight tabs: quality, leakage, features, sufficiency, drift, semantic (LLM), recommendations, download.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55555"/>
                </a:solidFill>
              </a:rPr>
              <a:t>(Backup: pre-recorded capture and generated HTML report, in case of demo issues.)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DEMO &amp; CONCLUSIONS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349240" cy="164592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353312"/>
            <a:ext cx="402336" cy="402336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316736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Automation is feasible end-to-end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One config + one CSV → scored, explained, actionable verdict on dataset quality and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5349240" cy="164592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36792" y="1353312"/>
            <a:ext cx="402336" cy="402336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316736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The unified L(f) score works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Detects leaks no single statistic catches, with ablation-backed weights — 4/4 benchmark scenarios vs. 0–1/4 for existing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5349240" cy="164592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36392"/>
            <a:ext cx="402336" cy="402336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99816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LLMs extend detection to semantics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Leakage invisible to statistics becomes detectable; live evaluation against Claude Haiku 4.5 confirms it works.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971800"/>
            <a:ext cx="5349240" cy="164592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36792" y="3136392"/>
            <a:ext cx="402336" cy="402336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99816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Real issues found in classic datasets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Titanic boat/name and Wine Quality duplicates — previously unflagged by standard tooling.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4892040"/>
            <a:ext cx="2194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17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development phases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4892040"/>
            <a:ext cx="219456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86200" y="4892040"/>
            <a:ext cx="2194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14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source modules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4892040"/>
            <a:ext cx="219456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4892040"/>
            <a:ext cx="2194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343/343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tests passing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892040"/>
            <a:ext cx="219456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41080" y="4892040"/>
            <a:ext cx="2194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43F60"/>
                </a:solidFill>
              </a:rPr>
              <a:t>3</a:t>
            </a:r>
          </a:p>
          <a:p>
            <a:pPr algn="ctr"/>
            <a:r>
              <a:rPr sz="1200" b="0">
                <a:solidFill>
                  <a:srgbClr val="555555"/>
                </a:solidFill>
              </a:rPr>
              <a:t>user interfaces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892040"/>
            <a:ext cx="2194560" cy="64008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l"/>
            <a:r>
              <a:rPr sz="1100" b="1">
                <a:solidFill>
                  <a:srgbClr val="FF8000"/>
                </a:solidFill>
              </a:rPr>
              <a:t>DEMO &amp; CONCLUSIONS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10528"/>
            <a:ext cx="11277295" cy="12700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Dataset Quality Assessment &amp; Data Leakage Detection  ·  J. Cano Moraño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5288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280160"/>
            <a:ext cx="9784080" cy="11430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53312" y="1444752"/>
            <a:ext cx="402336" cy="402336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1408176"/>
            <a:ext cx="8915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Larger, multi-provider benchmark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expand beyond 30 features and systematically compare GPT-4o-mini vs. Claude Haiku 4.5 and other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578608"/>
            <a:ext cx="9784080" cy="11430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53312" y="2743200"/>
            <a:ext cx="402336" cy="402336"/>
          </a:xfrm>
          <a:prstGeom prst="ellipse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706624"/>
            <a:ext cx="8915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Broader leakage taxonomy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group leakage, preprocessing leakage (scaler fit on full data), cross-validation contamination.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877056"/>
            <a:ext cx="9784080" cy="11430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4041648"/>
            <a:ext cx="402336" cy="402336"/>
          </a:xfrm>
          <a:prstGeom prst="ellipse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4005072"/>
            <a:ext cx="8915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CI/CD integration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readiness score as a merge gate for data pipelines — the SDK already makes this a few lines of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5175504"/>
            <a:ext cx="9784080" cy="11430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" y="5340096"/>
            <a:ext cx="402336" cy="402336"/>
          </a:xfrm>
          <a:prstGeom prst="ellipse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5303520"/>
            <a:ext cx="8915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F60"/>
                </a:solidFill>
              </a:rPr>
              <a:t>Learning thresholds from data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62626"/>
                </a:solidFill>
              </a:rPr>
              <a:t>replacing fixed flagging thresholds with calibrated, dataset-size-aware values.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9C8DC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6008" y="3886200"/>
            <a:ext cx="2926080" cy="32004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github.com/jaimecano12/ml-framework</a:t>
            </a:r>
          </a:p>
          <a:p>
            <a:pPr algn="ctr">
              <a:spcBef>
                <a:spcPts val="1000"/>
              </a:spcBef>
            </a:pPr>
            <a:r>
              <a:rPr sz="1600" b="0">
                <a:solidFill>
                  <a:srgbClr val="FFFFFF"/>
                </a:solidFill>
              </a:rPr>
              <a:t>Jaime Cano Moraño</a:t>
            </a:r>
          </a:p>
          <a:p>
            <a:pPr algn="ctr"/>
            <a:r>
              <a:rPr sz="1300" b="0">
                <a:solidFill>
                  <a:srgbClr val="B9C8DC"/>
                </a:solidFill>
              </a:rPr>
              <a:t>ETSIT-UPM  ·  Illinois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